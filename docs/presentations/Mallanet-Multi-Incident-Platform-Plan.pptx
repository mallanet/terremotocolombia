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678c1cc7914389" /><Relationship Type="http://schemas.openxmlformats.org/officeDocument/2006/relationships/extended-properties" Target="/docProps/app.xml" Id="Rbbed8923c51d412e" /><Relationship Type="http://schemas.openxmlformats.org/officeDocument/2006/relationships/officeDocument" Target="/ppt/presentation.xml" Id="R13162d48806c4a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4c626e1b17471c"/>
  </p:sldMasterIdLst>
  <p:notesMasterIdLst>
    <p:notesMasterId xmlns:r="http://schemas.openxmlformats.org/officeDocument/2006/relationships" r:id="Re0a03e573c114511"/>
  </p:notesMasterIdLst>
  <p:sldIdLst>
    <p:sldId xmlns:r="http://schemas.openxmlformats.org/officeDocument/2006/relationships" id="256" r:id="R21b34053abb04455"/>
    <p:sldId xmlns:r="http://schemas.openxmlformats.org/officeDocument/2006/relationships" id="257" r:id="Rabe035aebd7040a4"/>
    <p:sldId xmlns:r="http://schemas.openxmlformats.org/officeDocument/2006/relationships" id="258" r:id="Rde463ec02b094ef8"/>
    <p:sldId xmlns:r="http://schemas.openxmlformats.org/officeDocument/2006/relationships" id="259" r:id="R57eac1c394ed40aa"/>
    <p:sldId xmlns:r="http://schemas.openxmlformats.org/officeDocument/2006/relationships" id="260" r:id="R738f8b7eda4c426c"/>
    <p:sldId xmlns:r="http://schemas.openxmlformats.org/officeDocument/2006/relationships" id="261" r:id="R9393e978595a49b4"/>
    <p:sldId xmlns:r="http://schemas.openxmlformats.org/officeDocument/2006/relationships" id="262" r:id="R68f6d89fbe7841c0"/>
    <p:sldId xmlns:r="http://schemas.openxmlformats.org/officeDocument/2006/relationships" id="263" r:id="Ra6392ab3c0e742d4"/>
    <p:sldId xmlns:r="http://schemas.openxmlformats.org/officeDocument/2006/relationships" id="264" r:id="R5a9224e7dedf484e"/>
    <p:sldId xmlns:r="http://schemas.openxmlformats.org/officeDocument/2006/relationships" id="265" r:id="Rcd96a38ddf5d439f"/>
    <p:sldId xmlns:r="http://schemas.openxmlformats.org/officeDocument/2006/relationships" id="266" r:id="R5c26ed19a8fb4a26"/>
    <p:sldId xmlns:r="http://schemas.openxmlformats.org/officeDocument/2006/relationships" id="267" r:id="Rfdd4a7511df64788"/>
    <p:sldId xmlns:r="http://schemas.openxmlformats.org/officeDocument/2006/relationships" id="268" r:id="Raf5c3c2a9f5d42cb"/>
    <p:sldId xmlns:r="http://schemas.openxmlformats.org/officeDocument/2006/relationships" id="269" r:id="Reb374cade80140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99ad4e676d4287" /><Relationship Type="http://schemas.openxmlformats.org/officeDocument/2006/relationships/slideMaster" Target="/ppt/slideMasters/slideMaster1.xml" Id="Ra44c626e1b17471c" /><Relationship Type="http://schemas.openxmlformats.org/officeDocument/2006/relationships/notesMaster" Target="/ppt/notesMasters/notesMaster1.xml" Id="Re0a03e573c114511" /><Relationship Type="http://schemas.openxmlformats.org/officeDocument/2006/relationships/presProps" Target="/ppt/presProps.xml" Id="Rd3c6dbe5740f4e02" /><Relationship Type="http://schemas.openxmlformats.org/officeDocument/2006/relationships/tableStyles" Target="/ppt/tableStyles.xml" Id="R467c25468d274bbc" /><Relationship Type="http://schemas.openxmlformats.org/officeDocument/2006/relationships/slide" Target="/ppt/slides/slide1.xml" Id="R21b34053abb04455" /><Relationship Type="http://schemas.openxmlformats.org/officeDocument/2006/relationships/slide" Target="/ppt/slides/slide2.xml" Id="Rabe035aebd7040a4" /><Relationship Type="http://schemas.openxmlformats.org/officeDocument/2006/relationships/slide" Target="/ppt/slides/slide3.xml" Id="Rde463ec02b094ef8" /><Relationship Type="http://schemas.openxmlformats.org/officeDocument/2006/relationships/slide" Target="/ppt/slides/slide4.xml" Id="R57eac1c394ed40aa" /><Relationship Type="http://schemas.openxmlformats.org/officeDocument/2006/relationships/slide" Target="/ppt/slides/slide5.xml" Id="R738f8b7eda4c426c" /><Relationship Type="http://schemas.openxmlformats.org/officeDocument/2006/relationships/slide" Target="/ppt/slides/slide6.xml" Id="R9393e978595a49b4" /><Relationship Type="http://schemas.openxmlformats.org/officeDocument/2006/relationships/slide" Target="/ppt/slides/slide7.xml" Id="R68f6d89fbe7841c0" /><Relationship Type="http://schemas.openxmlformats.org/officeDocument/2006/relationships/slide" Target="/ppt/slides/slide8.xml" Id="Ra6392ab3c0e742d4" /><Relationship Type="http://schemas.openxmlformats.org/officeDocument/2006/relationships/slide" Target="/ppt/slides/slide9.xml" Id="R5a9224e7dedf484e" /><Relationship Type="http://schemas.openxmlformats.org/officeDocument/2006/relationships/slide" Target="/ppt/slides/slide10.xml" Id="Rcd96a38ddf5d439f" /><Relationship Type="http://schemas.openxmlformats.org/officeDocument/2006/relationships/slide" Target="/ppt/slides/slide11.xml" Id="R5c26ed19a8fb4a26" /><Relationship Type="http://schemas.openxmlformats.org/officeDocument/2006/relationships/slide" Target="/ppt/slides/slide12.xml" Id="Rfdd4a7511df64788" /><Relationship Type="http://schemas.openxmlformats.org/officeDocument/2006/relationships/slide" Target="/ppt/slides/slide13.xml" Id="Raf5c3c2a9f5d42cb" /><Relationship Type="http://schemas.openxmlformats.org/officeDocument/2006/relationships/slide" Target="/ppt/slides/slide14.xml" Id="Reb374cade80140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d4ed26a003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d8a8884b10455f" /><Relationship Type="http://schemas.openxmlformats.org/officeDocument/2006/relationships/notesMaster" Target="/ppt/notesMasters/notesMaster1.xml" Id="Rc490367cffb446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8ea53a1c494f72" /><Relationship Type="http://schemas.openxmlformats.org/officeDocument/2006/relationships/notesMaster" Target="/ppt/notesMasters/notesMaster1.xml" Id="R22481f0f45c541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a9e263eb074411" /><Relationship Type="http://schemas.openxmlformats.org/officeDocument/2006/relationships/notesMaster" Target="/ppt/notesMasters/notesMaster1.xml" Id="Rba8a2423e3ed42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dea318b4774f2d" /><Relationship Type="http://schemas.openxmlformats.org/officeDocument/2006/relationships/notesMaster" Target="/ppt/notesMasters/notesMaster1.xml" Id="Ra8498752886d4a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a5bf45a2cf42dc" /><Relationship Type="http://schemas.openxmlformats.org/officeDocument/2006/relationships/notesMaster" Target="/ppt/notesMasters/notesMaster1.xml" Id="Re53beb794cfa43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0882b863b34064" /><Relationship Type="http://schemas.openxmlformats.org/officeDocument/2006/relationships/notesMaster" Target="/ppt/notesMasters/notesMaster1.xml" Id="R1b679c9b394440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9113037fec4bd8" /><Relationship Type="http://schemas.openxmlformats.org/officeDocument/2006/relationships/notesMaster" Target="/ppt/notesMasters/notesMaster1.xml" Id="Rd9ed73ae980340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fcfeb1427f4f73" /><Relationship Type="http://schemas.openxmlformats.org/officeDocument/2006/relationships/notesMaster" Target="/ppt/notesMasters/notesMaster1.xml" Id="R09d68192b1c74f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b3b22680e640f2" /><Relationship Type="http://schemas.openxmlformats.org/officeDocument/2006/relationships/notesMaster" Target="/ppt/notesMasters/notesMaster1.xml" Id="Rdc28b128f96243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63f4364e0c4fa2" /><Relationship Type="http://schemas.openxmlformats.org/officeDocument/2006/relationships/notesMaster" Target="/ppt/notesMasters/notesMaster1.xml" Id="Rea78bac146284d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492eb4b34f480e" /><Relationship Type="http://schemas.openxmlformats.org/officeDocument/2006/relationships/notesMaster" Target="/ppt/notesMasters/notesMaster1.xml" Id="Rbb7d3587ad9642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48977f690d409f" /><Relationship Type="http://schemas.openxmlformats.org/officeDocument/2006/relationships/notesMaster" Target="/ppt/notesMasters/notesMaster1.xml" Id="Rf6db6a994eda44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dc41259488460c" /><Relationship Type="http://schemas.openxmlformats.org/officeDocument/2006/relationships/notesMaster" Target="/ppt/notesMasters/notesMaster1.xml" Id="R900c66993f0947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605a504bf743b9" /><Relationship Type="http://schemas.openxmlformats.org/officeDocument/2006/relationships/notesMaster" Target="/ppt/notesMasters/notesMaster1.xml" Id="Rbff662060a0a48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mission: preserve the proven Colombia response while creating a reusable operating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/Users/eduardomuthmartinez/Colombia/repo/docs/plans/2026-08-12-001-refactor-multi-incident-platform-plan.md</a:t>
            </a:r>
          </a:p>
          <a:p xmlns:a="http://schemas.openxmlformats.org/drawingml/2006/main">
            <a:r>
              <a:t>- /Users/eduardomuthmartinez/Colombia/repo/docs/plans/2026-08-14-001-feat-platform-operability-plan.md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an operational scaling problem, not a rewrite for its own sake.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/Users/eduardomuthmartinez/Colombia/repo/docs/plans/2026-08-14-001-feat-platform-operability-plan.md</a:t>
            </a:r>
          </a:p>
          <a:p xmlns:a="http://schemas.openxmlformats.org/drawingml/2006/main">
            <a:r>
              <a:t>- /Users/eduardomuthmartinez/Colombia/repo/docs/plans/2026-08-12-001-refactor-multi-incident-platform-plan.md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domains select approved deployment configuration; the browser does not choose tenant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/Users/eduardomuthmartinez/Colombia/repo/docs/plans/2026-08-14-001-feat-platform-operability-plan.md#runtime-deployments-and-communications</a:t>
            </a:r>
          </a:p>
          <a:p xmlns:a="http://schemas.openxmlformats.org/drawingml/2006/main">
            <a:r>
              <a:t>- /Users/eduardomuthmartinez/Colombia/repo/docs/plans/2026-08-12-001-refactor-multi-incident-platform-diagrams.md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/Users/eduardomuthmartinez/Colombia/repo/docs/plans/2026-08-12-001-refactor-multi-incident-platform-plan.md</a:t>
            </a:r>
          </a:p>
          <a:p xmlns:a="http://schemas.openxmlformats.org/drawingml/2006/main">
            <a:r>
              <a:t>- /Users/eduardomuthmartinez/Colombia/repo/docs/plans/2026-08-12-001-refactor-multi-incident-platform-diagrams.md#1-complete-component-topology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Detection remains review-only in the first operating stages; it cannot route traffic or send notifications.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https://earthquake.usgs.gov/earthquakes/feed/v1.0/geojson.php</a:t>
            </a:r>
          </a:p>
          <a:p xmlns:a="http://schemas.openxmlformats.org/drawingml/2006/main">
            <a:r>
              <a:t>- https://earthquake.usgs.gov/fdsnws/event/1/</a:t>
            </a:r>
          </a:p>
          <a:p xmlns:a="http://schemas.openxmlformats.org/drawingml/2006/main">
            <a:r>
              <a:t>- /Users/eduardomuthmartinez/Colombia/repo/docs/plans/2026-08-14-001-feat-platform-operability-plan.md#hazard-signals-and-incident-candidates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plan borrows separation-of-concerns patterns, not genealogy-specific product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https://www.familysearch.org/innovate/data-model</a:t>
            </a:r>
          </a:p>
          <a:p xmlns:a="http://schemas.openxmlformats.org/drawingml/2006/main">
            <a:r>
              <a:t>- https://developers.familysearch.org/main/docs/gedcom-x</a:t>
            </a:r>
          </a:p>
          <a:p xmlns:a="http://schemas.openxmlformats.org/drawingml/2006/main">
            <a:r>
              <a:t>- https://familylinks.icrc.org/privacy-policy</a:t>
            </a:r>
          </a:p>
          <a:p xmlns:a="http://schemas.openxmlformats.org/drawingml/2006/main">
            <a:r>
              <a:t>- /Users/eduardomuthmartinez/Colombia/repo/docs/plans/2026-08-12-001-refactor-multi-incident-platform-plan.md#architecture-research-synthesis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Ordinary WhatsApp group/community creation is not assumed to be automatable; unsupported work remains a verified waiting-external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/Users/eduardomuthmartinez/Colombia/repo/docs/plans/2026-08-14-001-feat-platform-operability-plan.md#tenant-and-incident-operations</a:t>
            </a:r>
          </a:p>
          <a:p xmlns:a="http://schemas.openxmlformats.org/drawingml/2006/main">
            <a:r>
              <a:t>- https://www.postman.com/meta/whatsapp-business-platform/overview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global login can hold independent organization memberships, but platform and tenant sessions never union.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/Users/eduardomuthmartinez/Colombia/repo/docs/plans/2026-08-14-001-feat-platform-operability-plan.md#administrative-authority-and-nonprofit-operations</a:t>
            </a:r>
          </a:p>
          <a:p xmlns:a="http://schemas.openxmlformats.org/drawingml/2006/main">
            <a:r>
              <a:t>- /Users/eduardomuthmartinez/Colombia/repo/docs/plans/2026-08-12-001-refactor-multi-incident-platform-diagrams.md#11-administrative-surfaces-and-authority-boundaries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and staging use separate Upstash Global databases. The provider can be disabled without changing public contracts.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https://upstash.com/docs/redis/features/restapi</a:t>
            </a:r>
          </a:p>
          <a:p xmlns:a="http://schemas.openxmlformats.org/drawingml/2006/main">
            <a:r>
              <a:t>- https://upstash.com/docs/redis/features/consistency</a:t>
            </a:r>
          </a:p>
          <a:p xmlns:a="http://schemas.openxmlformats.org/drawingml/2006/main">
            <a:r>
              <a:t>- https://upstash.com/docs/redis/features/security</a:t>
            </a:r>
          </a:p>
          <a:p xmlns:a="http://schemas.openxmlformats.org/drawingml/2006/main">
            <a:r>
              <a:t>- /Users/eduardomuthmartinez/Colombia/repo/docs/plans/2026-08-12-001-refactor-multi-incident-platform-plan.md#u34-upstash-distributed-cache-foundation-and-tenant-safe-invalidation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design targets zero planned downtime. It does not claim that the current single-host Compose path already provides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/Users/eduardomuthmartinez/Colombia/repo/docs/plans/2026-08-12-001-refactor-multi-incident-platform-plan.md#final-delta-cutover-and-no-downtime-release</a:t>
            </a:r>
          </a:p>
          <a:p xmlns:a="http://schemas.openxmlformats.org/drawingml/2006/main">
            <a:r>
              <a:t>- /Users/eduardomuthmartinez/Colombia/repo/docs/plans/2026-08-12-001-refactor-multi-incident-platform-plan.md#u19-live-colombia-change-intake-and-sync-ledger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/Users/eduardomuthmartinez/Colombia/repo/docs/plans/2026-08-12-001-refactor-multi-incident-platform-plan.md#verification-contract</a:t>
            </a:r>
          </a:p>
          <a:p xmlns:a="http://schemas.openxmlformats.org/drawingml/2006/main">
            <a:r>
              <a:t>- /Users/eduardomuthmartinez/Colombia/repo/docs/plans/2026-08-12-001-refactor-multi-incident-platform-plan.md#u0-release-control-prerequisites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default rollback is code or routing rollback while additive schema stays in place—not database restoration.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/Users/eduardomuthmartinez/Colombia/repo/docs/plans/2026-08-12-001-refactor-multi-incident-platform-plan.md#contingency-matrix</a:t>
            </a:r>
          </a:p>
          <a:p xmlns:a="http://schemas.openxmlformats.org/drawingml/2006/main">
            <a:r>
              <a:t>- /Users/eduardomuthmartinez/Colombia/repo/docs/plans/2026-08-14-001-feat-platform-operability-plan.md#risks--dependencies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sequence, not a promised calendar. Estimates come after the foundational inventory and execution-time main SHA are fixed.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/Users/eduardomuthmartinez/Colombia/repo/docs/plans/2026-08-12-001-refactor-multi-incident-platform-plan.md#sequencing</a:t>
            </a:r>
          </a:p>
          <a:p xmlns:a="http://schemas.openxmlformats.org/drawingml/2006/main">
            <a:r>
              <a:t>- /Users/eduardomuthmartinez/Colombia/repo/docs/plans/2026-08-14-001-feat-platform-operability-plan.md#goal-capsule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 bounded approval: begin the prerequisites and evidence-gathering work, then return for the migration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/Users/eduardomuthmartinez/Colombia/repo/docs/plans/2026-08-12-001-refactor-multi-incident-platform-plan.md#definition-of-done</a:t>
            </a:r>
          </a:p>
          <a:p xmlns:a="http://schemas.openxmlformats.org/drawingml/2006/main">
            <a:r>
              <a:t>- /Users/eduardomuthmartinez/Colombia/repo/docs/plans/2026-08-14-001-feat-platform-operability-plan.md#definition-of-done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d14d6b78c4c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a1552b2d594d59" /><Relationship Type="http://schemas.openxmlformats.org/officeDocument/2006/relationships/slideLayout" Target="/ppt/slideLayouts/slideLayout1.xml" Id="R04a3270b805f40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3270b805f40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b39b460894339" /><Relationship Type="http://schemas.openxmlformats.org/officeDocument/2006/relationships/notesSlide" Target="/ppt/notesSlides/notesSlide1.xml" Id="R01c13b94ede240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30c5619254584" /><Relationship Type="http://schemas.openxmlformats.org/officeDocument/2006/relationships/notesSlide" Target="/ppt/notesSlides/notesSlide2.xml" Id="R11a9c4afc23549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e330b74c3430e" /><Relationship Type="http://schemas.openxmlformats.org/officeDocument/2006/relationships/notesSlide" Target="/ppt/notesSlides/notesSlide3.xml" Id="R6d2bb4b78e3d4e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2a3b46c424cdd" /><Relationship Type="http://schemas.openxmlformats.org/officeDocument/2006/relationships/notesSlide" Target="/ppt/notesSlides/notesSlide4.xml" Id="R8ddd1146ee8a4c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34daaac9a4d45" /><Relationship Type="http://schemas.openxmlformats.org/officeDocument/2006/relationships/notesSlide" Target="/ppt/notesSlides/notesSlide5.xml" Id="R8691ba826adf40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38b33bf2a479e" /><Relationship Type="http://schemas.openxmlformats.org/officeDocument/2006/relationships/notesSlide" Target="/ppt/notesSlides/notesSlide6.xml" Id="Rf8e419fca13746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48ce576524dd1" /><Relationship Type="http://schemas.openxmlformats.org/officeDocument/2006/relationships/notesSlide" Target="/ppt/notesSlides/notesSlide7.xml" Id="Rb75e0812afa244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0893c1b8440c5" /><Relationship Type="http://schemas.openxmlformats.org/officeDocument/2006/relationships/notesSlide" Target="/ppt/notesSlides/notesSlide8.xml" Id="R04842f361a5e47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8d531c66a4ba4" /><Relationship Type="http://schemas.openxmlformats.org/officeDocument/2006/relationships/notesSlide" Target="/ppt/notesSlides/notesSlide9.xml" Id="Raef03476fe3c41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10f1eeefd49b1" /><Relationship Type="http://schemas.openxmlformats.org/officeDocument/2006/relationships/notesSlide" Target="/ppt/notesSlides/notesSlide10.xml" Id="Rbc6dcedfbe9c43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a1f6bb840497c" /><Relationship Type="http://schemas.openxmlformats.org/officeDocument/2006/relationships/notesSlide" Target="/ppt/notesSlides/notesSlide11.xml" Id="Rbc6051c3023442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0b6513bd54853" /><Relationship Type="http://schemas.openxmlformats.org/officeDocument/2006/relationships/notesSlide" Target="/ppt/notesSlides/notesSlide12.xml" Id="R0ff1f034bd584d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6ced74ca447a1" /><Relationship Type="http://schemas.openxmlformats.org/officeDocument/2006/relationships/notesSlide" Target="/ppt/notesSlides/notesSlide13.xml" Id="R489460c172a74c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a85cbd8dc458d" /><Relationship Type="http://schemas.openxmlformats.org/officeDocument/2006/relationships/notesSlide" Target="/ppt/notesSlides/notesSlide14.xml" Id="Re2fdf2797a7642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2-44">
            <a:extLst xmlns:a="http://schemas.openxmlformats.org/drawingml/2006/main">
              <a:ext uri="{FF2B5EF4-FFF2-40B4-BE49-F238E27FC236}">
                <a16:creationId xmlns:a16="http://schemas.microsoft.com/office/drawing/2014/main" id="{44EE53BB-D8A5-4217-80F9-0E325D51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MALLANET</a:t>
            </a:r>
          </a:p>
        </p:txBody>
      </p:sp>
      <p:sp>
        <p:nvSpPr>
          <p:cNvPr id="2" name="text-52-180">
            <a:extLst xmlns:a="http://schemas.openxmlformats.org/drawingml/2006/main">
              <a:ext uri="{FF2B5EF4-FFF2-40B4-BE49-F238E27FC236}">
                <a16:creationId xmlns:a16="http://schemas.microsoft.com/office/drawing/2014/main" id="{85D42D38-B5D1-480D-B9A4-4E0243F2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platform for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many response sites</a:t>
            </a:r>
          </a:p>
        </p:txBody>
      </p:sp>
      <p:sp>
        <p:nvSpPr>
          <p:cNvPr id="3" name="text-52-468">
            <a:extLst xmlns:a="http://schemas.openxmlformats.org/drawingml/2006/main">
              <a:ext uri="{FF2B5EF4-FFF2-40B4-BE49-F238E27FC236}">
                <a16:creationId xmlns:a16="http://schemas.microsoft.com/office/drawing/2014/main" id="{8F1884E2-572F-4CFD-822B-3DC28F2D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Multi-incident architecture, safe migration, and rapid-response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0ECB3-7498-4BBE-90E5-DAA06F01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5" name="text-52-632">
            <a:extLst xmlns:a="http://schemas.openxmlformats.org/drawingml/2006/main">
              <a:ext uri="{FF2B5EF4-FFF2-40B4-BE49-F238E27FC236}">
                <a16:creationId xmlns:a16="http://schemas.microsoft.com/office/drawing/2014/main" id="{175F4B0A-6D8B-47EF-A6BB-775B21B6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19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Shareable plan · August 2026</a:t>
            </a:r>
          </a:p>
        </p:txBody>
      </p:sp>
      <p:sp>
        <p:nvSpPr>
          <p:cNvPr id="6" name="text-798-632">
            <a:extLst xmlns:a="http://schemas.openxmlformats.org/drawingml/2006/main">
              <a:ext uri="{FF2B5EF4-FFF2-40B4-BE49-F238E27FC236}">
                <a16:creationId xmlns:a16="http://schemas.microsoft.com/office/drawing/2014/main" id="{910CC3D6-59E1-490F-8CE3-E2607D25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019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terremotocolombia.co → reusable platform</a:t>
            </a:r>
          </a:p>
        </p:txBody>
      </p:sp>
    </p:spTree>
    <p:extLst>
      <p:ext uri="{BB962C8B-B14F-4D97-AF65-F5344CB8AC3E}">
        <p14:creationId xmlns:p14="http://schemas.microsoft.com/office/powerpoint/2010/main" val="17060711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52-34">
            <a:extLst xmlns:a="http://schemas.openxmlformats.org/drawingml/2006/main">
              <a:ext uri="{FF2B5EF4-FFF2-40B4-BE49-F238E27FC236}">
                <a16:creationId xmlns:a16="http://schemas.microsoft.com/office/drawing/2014/main" id="{9D504CD1-047D-4CB1-A4DF-988C52F8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WHY CHANGE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62A06095-F8F6-4998-8C9E-230D87AA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system works—but each new response still starts too manually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29EEB-D7E5-4B14-AF38-7EEFAB3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C1FC3AD0-94BC-4780-9B96-6B50340B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898D54BD-F6B3-4A15-B90D-052AE1E6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text-52-178">
            <a:extLst xmlns:a="http://schemas.openxmlformats.org/drawingml/2006/main">
              <a:ext uri="{FF2B5EF4-FFF2-40B4-BE49-F238E27FC236}">
                <a16:creationId xmlns:a16="http://schemas.microsoft.com/office/drawing/2014/main" id="{ECDD77A8-A472-47CB-8D1C-65F26219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The plan converts a successful single-response stack into repeatable infrastructure without interrupting Colombia.</a:t>
            </a:r>
          </a:p>
        </p:txBody>
      </p:sp>
      <p:sp>
        <p:nvSpPr>
          <p:cNvPr id="7" name="text-52-274">
            <a:extLst xmlns:a="http://schemas.openxmlformats.org/drawingml/2006/main">
              <a:ext uri="{FF2B5EF4-FFF2-40B4-BE49-F238E27FC236}">
                <a16:creationId xmlns:a16="http://schemas.microsoft.com/office/drawing/2014/main" id="{2B483125-AFFC-42D0-8DFC-15B2C5B5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503A9-3BEC-4B0C-9B68-C2D704E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86125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52-371">
            <a:extLst xmlns:a="http://schemas.openxmlformats.org/drawingml/2006/main">
              <a:ext uri="{FF2B5EF4-FFF2-40B4-BE49-F238E27FC236}">
                <a16:creationId xmlns:a16="http://schemas.microsoft.com/office/drawing/2014/main" id="{4760503A-A999-476D-B18A-F64C6C29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337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is compiled</a:t>
            </a:r>
          </a:p>
        </p:txBody>
      </p:sp>
      <p:sp>
        <p:nvSpPr>
          <p:cNvPr id="10" name="text-52-428">
            <a:extLst xmlns:a="http://schemas.openxmlformats.org/drawingml/2006/main">
              <a:ext uri="{FF2B5EF4-FFF2-40B4-BE49-F238E27FC236}">
                <a16:creationId xmlns:a16="http://schemas.microsoft.com/office/drawing/2014/main" id="{6B884760-BF9E-4DBA-9AB1-0D4828C0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 new event/domain currently needs configuration-specific builds, CORS changes, and deployment work.</a:t>
            </a:r>
          </a:p>
        </p:txBody>
      </p:sp>
      <p:sp>
        <p:nvSpPr>
          <p:cNvPr id="11" name="text-454-274">
            <a:extLst xmlns:a="http://schemas.openxmlformats.org/drawingml/2006/main">
              <a:ext uri="{FF2B5EF4-FFF2-40B4-BE49-F238E27FC236}">
                <a16:creationId xmlns:a16="http://schemas.microsoft.com/office/drawing/2014/main" id="{52D254CF-A5B5-4DC7-A63D-F15EC261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B1FB9-585D-4EEE-8695-29A65AC3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86125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454-371">
            <a:extLst xmlns:a="http://schemas.openxmlformats.org/drawingml/2006/main">
              <a:ext uri="{FF2B5EF4-FFF2-40B4-BE49-F238E27FC236}">
                <a16:creationId xmlns:a16="http://schemas.microsoft.com/office/drawing/2014/main" id="{BA4225A8-29FF-4BF5-AAC0-CD3759B0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337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Authority is global</a:t>
            </a:r>
          </a:p>
        </p:txBody>
      </p:sp>
      <p:sp>
        <p:nvSpPr>
          <p:cNvPr id="14" name="text-454-428">
            <a:extLst xmlns:a="http://schemas.openxmlformats.org/drawingml/2006/main">
              <a:ext uri="{FF2B5EF4-FFF2-40B4-BE49-F238E27FC236}">
                <a16:creationId xmlns:a16="http://schemas.microsoft.com/office/drawing/2014/main" id="{3C8A7BDC-2E77-4176-8315-57879A5A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767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Existing roles, invitations, and system-admin shortcuts are not safe foundations for a second organization.</a:t>
            </a:r>
          </a:p>
        </p:txBody>
      </p:sp>
      <p:sp>
        <p:nvSpPr>
          <p:cNvPr id="15" name="text-856-274">
            <a:extLst xmlns:a="http://schemas.openxmlformats.org/drawingml/2006/main">
              <a:ext uri="{FF2B5EF4-FFF2-40B4-BE49-F238E27FC236}">
                <a16:creationId xmlns:a16="http://schemas.microsoft.com/office/drawing/2014/main" id="{CDBA9AF8-6EBD-4D10-8572-88DC6008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20570-5DF6-4D95-A76D-4AB2F807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86125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856-371">
            <a:extLst xmlns:a="http://schemas.openxmlformats.org/drawingml/2006/main">
              <a:ext uri="{FF2B5EF4-FFF2-40B4-BE49-F238E27FC236}">
                <a16:creationId xmlns:a16="http://schemas.microsoft.com/office/drawing/2014/main" id="{65877C1C-EB05-4930-96D7-5D041B50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337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Operations are manual</a:t>
            </a:r>
          </a:p>
        </p:txBody>
      </p:sp>
      <p:sp>
        <p:nvSpPr>
          <p:cNvPr id="18" name="text-856-428">
            <a:extLst xmlns:a="http://schemas.openxmlformats.org/drawingml/2006/main">
              <a:ext uri="{FF2B5EF4-FFF2-40B4-BE49-F238E27FC236}">
                <a16:creationId xmlns:a16="http://schemas.microsoft.com/office/drawing/2014/main" id="{BA03FC6E-40D6-4D22-8B53-E82245B7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767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Provisioning, communications, migration, and release checks depend on hand-run steps and tribal knowledge.</a:t>
            </a:r>
          </a:p>
        </p:txBody>
      </p:sp>
    </p:spTree>
    <p:extLst>
      <p:ext uri="{BB962C8B-B14F-4D97-AF65-F5344CB8AC3E}">
        <p14:creationId xmlns:p14="http://schemas.microsoft.com/office/powerpoint/2010/main" val="1990953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52-34">
            <a:extLst xmlns:a="http://schemas.openxmlformats.org/drawingml/2006/main">
              <a:ext uri="{FF2B5EF4-FFF2-40B4-BE49-F238E27FC236}">
                <a16:creationId xmlns:a16="http://schemas.microsoft.com/office/drawing/2014/main" id="{74CA3593-B786-42A2-B080-55E6EAC8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PLATFORM MODEL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A766EB02-6D04-41DC-BB9C-A9954861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target model separates reusable platform capability from response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6CFC6-DB20-4FED-96C6-C6FE6EC1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8C827E9E-EA71-430D-BB56-DCBBA743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0E781FD0-EF73-4DEA-A2B9-57B1E397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text-52-177">
            <a:extLst xmlns:a="http://schemas.openxmlformats.org/drawingml/2006/main">
              <a:ext uri="{FF2B5EF4-FFF2-40B4-BE49-F238E27FC236}">
                <a16:creationId xmlns:a16="http://schemas.microsoft.com/office/drawing/2014/main" id="{B6F43CD7-5272-428E-9C23-C55EB765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5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One codebase and shared backend; each hostname receives an approved deployment configuration and an explicit event scope.</a:t>
            </a:r>
          </a:p>
        </p:txBody>
      </p:sp>
      <p:sp>
        <p:nvSpPr>
          <p:cNvPr id="7" name="box-400-292">
            <a:extLst xmlns:a="http://schemas.openxmlformats.org/drawingml/2006/main">
              <a:ext uri="{FF2B5EF4-FFF2-40B4-BE49-F238E27FC236}">
                <a16:creationId xmlns:a16="http://schemas.microsoft.com/office/drawing/2014/main" id="{F373E0A2-A304-4492-BACB-13BF110A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45720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DF8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box-70-312">
            <a:extLst xmlns:a="http://schemas.openxmlformats.org/drawingml/2006/main">
              <a:ext uri="{FF2B5EF4-FFF2-40B4-BE49-F238E27FC236}">
                <a16:creationId xmlns:a16="http://schemas.microsoft.com/office/drawing/2014/main" id="{318F90F3-6A95-4BDD-A8F7-CAC4C0A1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3812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box-960-312">
            <a:extLst xmlns:a="http://schemas.openxmlformats.org/drawingml/2006/main">
              <a:ext uri="{FF2B5EF4-FFF2-40B4-BE49-F238E27FC236}">
                <a16:creationId xmlns:a16="http://schemas.microsoft.com/office/drawing/2014/main" id="{2CFD65C1-A96E-4194-AF1D-9762C7C8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3812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box-500-232">
            <a:extLst xmlns:a="http://schemas.openxmlformats.org/drawingml/2006/main">
              <a:ext uri="{FF2B5EF4-FFF2-40B4-BE49-F238E27FC236}">
                <a16:creationId xmlns:a16="http://schemas.microsoft.com/office/drawing/2014/main" id="{3BED1A06-040E-4034-AB9D-A4E166B0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26670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36385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382000" y="36385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10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6479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med" len="med"/>
          </a:ln>
        </p:spPr>
      </p:cxnSp>
      <p:sp>
        <p:nvSpPr>
          <p:cNvPr id="14" name="text-88-335">
            <a:extLst xmlns:a="http://schemas.openxmlformats.org/drawingml/2006/main">
              <a:ext uri="{FF2B5EF4-FFF2-40B4-BE49-F238E27FC236}">
                <a16:creationId xmlns:a16="http://schemas.microsoft.com/office/drawing/2014/main" id="{0C574857-704B-4024-9168-26721EDA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terremotocolombia.co</a:t>
            </a:r>
          </a:p>
        </p:txBody>
      </p:sp>
      <p:sp>
        <p:nvSpPr>
          <p:cNvPr id="15" name="text-88-378">
            <a:extLst xmlns:a="http://schemas.openxmlformats.org/drawingml/2006/main">
              <a:ext uri="{FF2B5EF4-FFF2-40B4-BE49-F238E27FC236}">
                <a16:creationId xmlns:a16="http://schemas.microsoft.com/office/drawing/2014/main" id="{F0FE17AA-BDB5-46EE-AC97-C813AD7F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Deployment → Colombia incident</a:t>
            </a:r>
          </a:p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Brand · navigation · modules</a:t>
            </a:r>
          </a:p>
        </p:txBody>
      </p:sp>
      <p:sp>
        <p:nvSpPr>
          <p:cNvPr id="16" name="text-978-335">
            <a:extLst xmlns:a="http://schemas.openxmlformats.org/drawingml/2006/main">
              <a:ext uri="{FF2B5EF4-FFF2-40B4-BE49-F238E27FC236}">
                <a16:creationId xmlns:a16="http://schemas.microsoft.com/office/drawing/2014/main" id="{CBC5EFAD-2151-44DC-A119-34F4BFB6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908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8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terremotovenezuela.app</a:t>
            </a:r>
          </a:p>
        </p:txBody>
      </p:sp>
      <p:sp>
        <p:nvSpPr>
          <p:cNvPr id="17" name="text-978-378">
            <a:extLst xmlns:a="http://schemas.openxmlformats.org/drawingml/2006/main">
              <a:ext uri="{FF2B5EF4-FFF2-40B4-BE49-F238E27FC236}">
                <a16:creationId xmlns:a16="http://schemas.microsoft.com/office/drawing/2014/main" id="{A5077637-0B94-4862-BB3D-19E15531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00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Deployment → Venezuela incident</a:t>
            </a:r>
          </a:p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Brand · navigation · modules</a:t>
            </a:r>
          </a:p>
        </p:txBody>
      </p:sp>
      <p:sp>
        <p:nvSpPr>
          <p:cNvPr id="18" name="text-520-244">
            <a:extLst xmlns:a="http://schemas.openxmlformats.org/drawingml/2006/main">
              <a:ext uri="{FF2B5EF4-FFF2-40B4-BE49-F238E27FC236}">
                <a16:creationId xmlns:a16="http://schemas.microsoft.com/office/drawing/2014/main" id="{9A800AF6-D408-4972-A1CF-4B54FAAE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Trusted hostname resolution</a:t>
            </a:r>
          </a:p>
        </p:txBody>
      </p:sp>
      <p:sp>
        <p:nvSpPr>
          <p:cNvPr id="19" name="text-430-319">
            <a:extLst xmlns:a="http://schemas.openxmlformats.org/drawingml/2006/main">
              <a:ext uri="{FF2B5EF4-FFF2-40B4-BE49-F238E27FC236}">
                <a16:creationId xmlns:a16="http://schemas.microsoft.com/office/drawing/2014/main" id="{6DC94530-F2F4-4091-9CFA-1315A69B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384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platform</a:t>
            </a:r>
          </a:p>
        </p:txBody>
      </p:sp>
      <p:sp>
        <p:nvSpPr>
          <p:cNvPr id="20" name="text-440-377">
            <a:extLst xmlns:a="http://schemas.openxmlformats.org/drawingml/2006/main">
              <a:ext uri="{FF2B5EF4-FFF2-40B4-BE49-F238E27FC236}">
                <a16:creationId xmlns:a16="http://schemas.microsoft.com/office/drawing/2014/main" id="{152EF707-8637-4676-98DE-7477505A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90925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85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Contracts · tenant-scoped services · modules · providers</a:t>
            </a:r>
          </a:p>
          <a:p xmlns:a="http://schemas.openxmlformats.org/drawingml/2006/main">
            <a:pPr algn="ctr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queues · records · maps · communications · observability</a:t>
            </a:r>
          </a:p>
        </p:txBody>
      </p:sp>
      <p:sp>
        <p:nvSpPr>
          <p:cNvPr id="21" name="text-190-532">
            <a:extLst xmlns:a="http://schemas.openxmlformats.org/drawingml/2006/main">
              <a:ext uri="{FF2B5EF4-FFF2-40B4-BE49-F238E27FC236}">
                <a16:creationId xmlns:a16="http://schemas.microsoft.com/office/drawing/2014/main" id="{AE6C0B4A-97BD-496A-9F19-26CF9EC6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Cross-event visuals use approved aggregate projections—not broad record access.</a:t>
            </a:r>
          </a:p>
        </p:txBody>
      </p:sp>
    </p:spTree>
    <p:extLst>
      <p:ext uri="{BB962C8B-B14F-4D97-AF65-F5344CB8AC3E}">
        <p14:creationId xmlns:p14="http://schemas.microsoft.com/office/powerpoint/2010/main" val="1039766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52-34">
            <a:extLst xmlns:a="http://schemas.openxmlformats.org/drawingml/2006/main">
              <a:ext uri="{FF2B5EF4-FFF2-40B4-BE49-F238E27FC236}">
                <a16:creationId xmlns:a16="http://schemas.microsoft.com/office/drawing/2014/main" id="{AEC63EC8-EC4C-488E-9972-8C469EF1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SYSTEM ARCHITECTURE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D030CBC8-657E-45C1-B128-9E8B1D8E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boundaries keep speed from weakening isolation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66E85-EE11-43A1-9305-4AB174BB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BA5F9397-AF67-422B-BA53-786382EB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654623AE-8598-4F85-90FB-8835D810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box-52-190">
            <a:extLst xmlns:a="http://schemas.openxmlformats.org/drawingml/2006/main">
              <a:ext uri="{FF2B5EF4-FFF2-40B4-BE49-F238E27FC236}">
                <a16:creationId xmlns:a16="http://schemas.microsoft.com/office/drawing/2014/main" id="{F53EE891-AC0D-40E7-A644-B494E64C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201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72-207">
            <a:extLst xmlns:a="http://schemas.openxmlformats.org/drawingml/2006/main">
              <a:ext uri="{FF2B5EF4-FFF2-40B4-BE49-F238E27FC236}">
                <a16:creationId xmlns:a16="http://schemas.microsoft.com/office/drawing/2014/main" id="{D858DCA4-D954-4F20-983E-43803DD6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text-140-206">
            <a:extLst xmlns:a="http://schemas.openxmlformats.org/drawingml/2006/main">
              <a:ext uri="{FF2B5EF4-FFF2-40B4-BE49-F238E27FC236}">
                <a16:creationId xmlns:a16="http://schemas.microsoft.com/office/drawing/2014/main" id="{65945514-344C-4801-B2A9-1890D8A7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62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9" name="text-420-208">
            <a:extLst xmlns:a="http://schemas.openxmlformats.org/drawingml/2006/main">
              <a:ext uri="{FF2B5EF4-FFF2-40B4-BE49-F238E27FC236}">
                <a16:creationId xmlns:a16="http://schemas.microsoft.com/office/drawing/2014/main" id="{82FA578D-258A-4AD5-BA3D-DAFD79FF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812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Public sites, organization admin, Mallanet operations console</a:t>
            </a:r>
          </a:p>
        </p:txBody>
      </p:sp>
      <p:sp>
        <p:nvSpPr>
          <p:cNvPr id="10" name="box-52-292">
            <a:extLst xmlns:a="http://schemas.openxmlformats.org/drawingml/2006/main">
              <a:ext uri="{FF2B5EF4-FFF2-40B4-BE49-F238E27FC236}">
                <a16:creationId xmlns:a16="http://schemas.microsoft.com/office/drawing/2014/main" id="{8C56D8CC-7328-40FC-B61F-A54072D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1201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text-72-309">
            <a:extLst xmlns:a="http://schemas.openxmlformats.org/drawingml/2006/main">
              <a:ext uri="{FF2B5EF4-FFF2-40B4-BE49-F238E27FC236}">
                <a16:creationId xmlns:a16="http://schemas.microsoft.com/office/drawing/2014/main" id="{96FF80DA-84F9-40CB-A0FF-B3811AAF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text-140-308">
            <a:extLst xmlns:a="http://schemas.openxmlformats.org/drawingml/2006/main">
              <a:ext uri="{FF2B5EF4-FFF2-40B4-BE49-F238E27FC236}">
                <a16:creationId xmlns:a16="http://schemas.microsoft.com/office/drawing/2014/main" id="{0BE14656-49BA-4E18-B21E-A80C33B3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Trusted authority</a:t>
            </a:r>
          </a:p>
        </p:txBody>
      </p:sp>
      <p:sp>
        <p:nvSpPr>
          <p:cNvPr id="13" name="text-420-310">
            <a:extLst xmlns:a="http://schemas.openxmlformats.org/drawingml/2006/main">
              <a:ext uri="{FF2B5EF4-FFF2-40B4-BE49-F238E27FC236}">
                <a16:creationId xmlns:a16="http://schemas.microsoft.com/office/drawing/2014/main" id="{9E0EB1E3-0B41-4830-992E-F69F8521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Exact host → deployment → allowed/default incident → immutable TenantScope</a:t>
            </a:r>
          </a:p>
        </p:txBody>
      </p:sp>
      <p:sp>
        <p:nvSpPr>
          <p:cNvPr id="14" name="box-52-394">
            <a:extLst xmlns:a="http://schemas.openxmlformats.org/drawingml/2006/main">
              <a:ext uri="{FF2B5EF4-FFF2-40B4-BE49-F238E27FC236}">
                <a16:creationId xmlns:a16="http://schemas.microsoft.com/office/drawing/2014/main" id="{8A9E02E6-8094-4775-B361-4F19E468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11201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72-411">
            <a:extLst xmlns:a="http://schemas.openxmlformats.org/drawingml/2006/main">
              <a:ext uri="{FF2B5EF4-FFF2-40B4-BE49-F238E27FC236}">
                <a16:creationId xmlns:a16="http://schemas.microsoft.com/office/drawing/2014/main" id="{F044BB78-8A8F-4A07-9003-3D989378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text-140-410">
            <a:extLst xmlns:a="http://schemas.openxmlformats.org/drawingml/2006/main">
              <a:ext uri="{FF2B5EF4-FFF2-40B4-BE49-F238E27FC236}">
                <a16:creationId xmlns:a16="http://schemas.microsoft.com/office/drawing/2014/main" id="{AC3CFAA2-4D77-466D-9F83-B161075B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services</a:t>
            </a:r>
          </a:p>
        </p:txBody>
      </p:sp>
      <p:sp>
        <p:nvSpPr>
          <p:cNvPr id="17" name="text-420-412">
            <a:extLst xmlns:a="http://schemas.openxmlformats.org/drawingml/2006/main">
              <a:ext uri="{FF2B5EF4-FFF2-40B4-BE49-F238E27FC236}">
                <a16:creationId xmlns:a16="http://schemas.microsoft.com/office/drawing/2014/main" id="{9C695778-AB3B-4CDE-82AC-97D391F4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Module gates, scoped repositories, adapters, queues, cache policies</a:t>
            </a:r>
          </a:p>
        </p:txBody>
      </p:sp>
      <p:sp>
        <p:nvSpPr>
          <p:cNvPr id="18" name="box-52-496">
            <a:extLst xmlns:a="http://schemas.openxmlformats.org/drawingml/2006/main">
              <a:ext uri="{FF2B5EF4-FFF2-40B4-BE49-F238E27FC236}">
                <a16:creationId xmlns:a16="http://schemas.microsoft.com/office/drawing/2014/main" id="{B0AAFE53-2516-4EC9-8AA2-8A5000E2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11201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-72-513">
            <a:extLst xmlns:a="http://schemas.openxmlformats.org/drawingml/2006/main">
              <a:ext uri="{FF2B5EF4-FFF2-40B4-BE49-F238E27FC236}">
                <a16:creationId xmlns:a16="http://schemas.microsoft.com/office/drawing/2014/main" id="{D2E2829C-890A-4591-96E6-E2B3F62B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text-140-512">
            <a:extLst xmlns:a="http://schemas.openxmlformats.org/drawingml/2006/main">
              <a:ext uri="{FF2B5EF4-FFF2-40B4-BE49-F238E27FC236}">
                <a16:creationId xmlns:a16="http://schemas.microsoft.com/office/drawing/2014/main" id="{A9727499-55C4-4F01-B8FF-0473FDA2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Authoritative state</a:t>
            </a:r>
          </a:p>
        </p:txBody>
      </p:sp>
      <p:sp>
        <p:nvSpPr>
          <p:cNvPr id="21" name="text-420-514">
            <a:extLst xmlns:a="http://schemas.openxmlformats.org/drawingml/2006/main">
              <a:ext uri="{FF2B5EF4-FFF2-40B4-BE49-F238E27FC236}">
                <a16:creationId xmlns:a16="http://schemas.microsoft.com/office/drawing/2014/main" id="{01E9976D-DC49-4CC6-9BBE-D6389772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958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Neon Postgres, domain-owned records, configuration and operation ledgers</a:t>
            </a:r>
          </a:p>
        </p:txBody>
      </p:sp>
      <p:sp>
        <p:nvSpPr>
          <p:cNvPr id="22" name="text-140-615">
            <a:extLst xmlns:a="http://schemas.openxmlformats.org/drawingml/2006/main">
              <a:ext uri="{FF2B5EF4-FFF2-40B4-BE49-F238E27FC236}">
                <a16:creationId xmlns:a16="http://schemas.microsoft.com/office/drawing/2014/main" id="{0DE5B1C8-D52E-49EE-BA95-A7171B3F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578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Rule: every ordinary request resolves exactly one organization + incident scope before data or cache access.</a:t>
            </a:r>
          </a:p>
        </p:txBody>
      </p:sp>
    </p:spTree>
    <p:extLst>
      <p:ext uri="{BB962C8B-B14F-4D97-AF65-F5344CB8AC3E}">
        <p14:creationId xmlns:p14="http://schemas.microsoft.com/office/powerpoint/2010/main" val="285664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52-34">
            <a:extLst xmlns:a="http://schemas.openxmlformats.org/drawingml/2006/main">
              <a:ext uri="{FF2B5EF4-FFF2-40B4-BE49-F238E27FC236}">
                <a16:creationId xmlns:a16="http://schemas.microsoft.com/office/drawing/2014/main" id="{24DD0BF0-B27A-48B6-A650-92076C1A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EVENT DETECTION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691EED3A-9C10-4F7C-A91A-044E57BA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Signals create evidence and candidates—humans decide whether to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458B2-ABCD-4327-A8E7-F98F4E1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E94B8AE5-7D03-4346-B872-19EC46A1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95BD7BD5-505C-4067-BAB2-C090B700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box-52-264">
            <a:extLst xmlns:a="http://schemas.openxmlformats.org/drawingml/2006/main">
              <a:ext uri="{FF2B5EF4-FFF2-40B4-BE49-F238E27FC236}">
                <a16:creationId xmlns:a16="http://schemas.microsoft.com/office/drawing/2014/main" id="{0C7F543A-3E33-4C7F-9380-12456FE8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1809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box-274-264">
            <a:extLst xmlns:a="http://schemas.openxmlformats.org/drawingml/2006/main">
              <a:ext uri="{FF2B5EF4-FFF2-40B4-BE49-F238E27FC236}">
                <a16:creationId xmlns:a16="http://schemas.microsoft.com/office/drawing/2014/main" id="{BE679757-AFE7-4DDC-8D00-B22AF6D4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809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box-496-264">
            <a:extLst xmlns:a="http://schemas.openxmlformats.org/drawingml/2006/main">
              <a:ext uri="{FF2B5EF4-FFF2-40B4-BE49-F238E27FC236}">
                <a16:creationId xmlns:a16="http://schemas.microsoft.com/office/drawing/2014/main" id="{A69D8AA5-1472-499B-B729-896B83F5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1809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box-718-264">
            <a:extLst xmlns:a="http://schemas.openxmlformats.org/drawingml/2006/main">
              <a:ext uri="{FF2B5EF4-FFF2-40B4-BE49-F238E27FC236}">
                <a16:creationId xmlns:a16="http://schemas.microsoft.com/office/drawing/2014/main" id="{A46E16B0-2657-48F0-AE16-E76EEADC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14600"/>
            <a:ext cx="1809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box-940-264">
            <a:extLst xmlns:a="http://schemas.openxmlformats.org/drawingml/2006/main">
              <a:ext uri="{FF2B5EF4-FFF2-40B4-BE49-F238E27FC236}">
                <a16:creationId xmlns:a16="http://schemas.microsoft.com/office/drawing/2014/main" id="{B66F2B62-7BE5-423E-B047-81E69F0A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18097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DF8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05050" y="31718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19600" y="31718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34150" y="31718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48700" y="31718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5" name="text-68-284">
            <a:extLst xmlns:a="http://schemas.openxmlformats.org/drawingml/2006/main">
              <a:ext uri="{FF2B5EF4-FFF2-40B4-BE49-F238E27FC236}">
                <a16:creationId xmlns:a16="http://schemas.microsoft.com/office/drawing/2014/main" id="{5CF7A73D-47B4-4FE5-9472-B18DCCC8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9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USGS + approved sources</a:t>
            </a:r>
          </a:p>
        </p:txBody>
      </p:sp>
      <p:sp>
        <p:nvSpPr>
          <p:cNvPr id="16" name="text-68-346">
            <a:extLst xmlns:a="http://schemas.openxmlformats.org/drawingml/2006/main">
              <a:ext uri="{FF2B5EF4-FFF2-40B4-BE49-F238E27FC236}">
                <a16:creationId xmlns:a16="http://schemas.microsoft.com/office/drawing/2014/main" id="{303A8A2D-3FAF-4C54-9F47-77F5168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Versioned adapters</a:t>
            </a:r>
          </a:p>
        </p:txBody>
      </p:sp>
      <p:sp>
        <p:nvSpPr>
          <p:cNvPr id="17" name="text-290-284">
            <a:extLst xmlns:a="http://schemas.openxmlformats.org/drawingml/2006/main">
              <a:ext uri="{FF2B5EF4-FFF2-40B4-BE49-F238E27FC236}">
                <a16:creationId xmlns:a16="http://schemas.microsoft.com/office/drawing/2014/main" id="{DEBDDBC4-031E-4BCF-81B0-1C497199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051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Observations</a:t>
            </a:r>
          </a:p>
        </p:txBody>
      </p:sp>
      <p:sp>
        <p:nvSpPr>
          <p:cNvPr id="18" name="text-290-346">
            <a:extLst xmlns:a="http://schemas.openxmlformats.org/drawingml/2006/main">
              <a:ext uri="{FF2B5EF4-FFF2-40B4-BE49-F238E27FC236}">
                <a16:creationId xmlns:a16="http://schemas.microsoft.com/office/drawing/2014/main" id="{D9FD5E6D-1F0D-4CD2-8B1C-447D28C1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956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Immutable revisions + health</a:t>
            </a:r>
          </a:p>
        </p:txBody>
      </p:sp>
      <p:sp>
        <p:nvSpPr>
          <p:cNvPr id="19" name="text-512-284">
            <a:extLst xmlns:a="http://schemas.openxmlformats.org/drawingml/2006/main">
              <a:ext uri="{FF2B5EF4-FFF2-40B4-BE49-F238E27FC236}">
                <a16:creationId xmlns:a16="http://schemas.microsoft.com/office/drawing/2014/main" id="{98AB1E34-D8CE-4D61-B574-AB8F6801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Hazard events</a:t>
            </a:r>
          </a:p>
        </p:txBody>
      </p:sp>
      <p:sp>
        <p:nvSpPr>
          <p:cNvPr id="20" name="text-512-346">
            <a:extLst xmlns:a="http://schemas.openxmlformats.org/drawingml/2006/main">
              <a:ext uri="{FF2B5EF4-FFF2-40B4-BE49-F238E27FC236}">
                <a16:creationId xmlns:a16="http://schemas.microsoft.com/office/drawing/2014/main" id="{8C91E88D-1BD7-4ABF-A8B2-C614874C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956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Deterministic correlation</a:t>
            </a:r>
          </a:p>
        </p:txBody>
      </p:sp>
      <p:sp>
        <p:nvSpPr>
          <p:cNvPr id="21" name="text-734-284">
            <a:extLst xmlns:a="http://schemas.openxmlformats.org/drawingml/2006/main">
              <a:ext uri="{FF2B5EF4-FFF2-40B4-BE49-F238E27FC236}">
                <a16:creationId xmlns:a16="http://schemas.microsoft.com/office/drawing/2014/main" id="{9902E88C-44BA-4BDB-9BF2-6CD8BA44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051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Incident candidate</a:t>
            </a:r>
          </a:p>
        </p:txBody>
      </p:sp>
      <p:sp>
        <p:nvSpPr>
          <p:cNvPr id="22" name="text-734-346">
            <a:extLst xmlns:a="http://schemas.openxmlformats.org/drawingml/2006/main">
              <a:ext uri="{FF2B5EF4-FFF2-40B4-BE49-F238E27FC236}">
                <a16:creationId xmlns:a16="http://schemas.microsoft.com/office/drawing/2014/main" id="{0BEA5ECE-FBCD-4EE1-9353-FBB6FE6C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956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Rules + reasons + replay</a:t>
            </a:r>
          </a:p>
        </p:txBody>
      </p:sp>
      <p:sp>
        <p:nvSpPr>
          <p:cNvPr id="23" name="text-956-284">
            <a:extLst xmlns:a="http://schemas.openxmlformats.org/drawingml/2006/main">
              <a:ext uri="{FF2B5EF4-FFF2-40B4-BE49-F238E27FC236}">
                <a16:creationId xmlns:a16="http://schemas.microsoft.com/office/drawing/2014/main" id="{9B5A7512-E046-42A9-8E95-8C21C206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24" name="text-956-346">
            <a:extLst xmlns:a="http://schemas.openxmlformats.org/drawingml/2006/main">
              <a:ext uri="{FF2B5EF4-FFF2-40B4-BE49-F238E27FC236}">
                <a16:creationId xmlns:a16="http://schemas.microsoft.com/office/drawing/2014/main" id="{658C858A-361A-400A-99B2-807940D5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956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Approve, reject, suppress</a:t>
            </a:r>
          </a:p>
        </p:txBody>
      </p:sp>
      <p:sp>
        <p:nvSpPr>
          <p:cNvPr id="25" name="box-940-445">
            <a:extLst xmlns:a="http://schemas.openxmlformats.org/drawingml/2006/main">
              <a:ext uri="{FF2B5EF4-FFF2-40B4-BE49-F238E27FC236}">
                <a16:creationId xmlns:a16="http://schemas.microsoft.com/office/drawing/2014/main" id="{C1EC1BAF-B12A-40F7-9F02-CD0C87A8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5" name=""/>
          <p:cNvCxnSpPr>
            <a:stCxn xmlns:a="http://schemas.openxmlformats.org/drawingml/2006/main" id="1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858375" y="38290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med" len="med"/>
          </a:ln>
        </p:spPr>
      </p:cxnSp>
      <p:sp>
        <p:nvSpPr>
          <p:cNvPr id="27" name="text-964-462">
            <a:extLst xmlns:a="http://schemas.openxmlformats.org/drawingml/2006/main">
              <a:ext uri="{FF2B5EF4-FFF2-40B4-BE49-F238E27FC236}">
                <a16:creationId xmlns:a16="http://schemas.microsoft.com/office/drawing/2014/main" id="{BEA57389-96AB-4493-BA0D-F9167231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005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Preview only</a:t>
            </a:r>
          </a:p>
        </p:txBody>
      </p:sp>
      <p:sp>
        <p:nvSpPr>
          <p:cNvPr id="28" name="text-355-530">
            <a:extLst xmlns:a="http://schemas.openxmlformats.org/drawingml/2006/main">
              <a:ext uri="{FF2B5EF4-FFF2-40B4-BE49-F238E27FC236}">
                <a16:creationId xmlns:a16="http://schemas.microsoft.com/office/drawing/2014/main" id="{11FB2A5E-A0CF-455E-BF75-EAB38697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48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Activation is a separate approval</a:t>
            </a:r>
          </a:p>
        </p:txBody>
      </p:sp>
      <p:sp>
        <p:nvSpPr>
          <p:cNvPr id="29" name="text-300-588">
            <a:extLst xmlns:a="http://schemas.openxmlformats.org/drawingml/2006/main">
              <a:ext uri="{FF2B5EF4-FFF2-40B4-BE49-F238E27FC236}">
                <a16:creationId xmlns:a16="http://schemas.microsoft.com/office/drawing/2014/main" id="{50AC3EFD-5AA6-439C-A243-02512D30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00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Source outage or silence changes source health—not public incidents.</a:t>
            </a:r>
          </a:p>
        </p:txBody>
      </p:sp>
    </p:spTree>
    <p:extLst>
      <p:ext uri="{BB962C8B-B14F-4D97-AF65-F5344CB8AC3E}">
        <p14:creationId xmlns:p14="http://schemas.microsoft.com/office/powerpoint/2010/main" val="976159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-52-34">
            <a:extLst xmlns:a="http://schemas.openxmlformats.org/drawingml/2006/main">
              <a:ext uri="{FF2B5EF4-FFF2-40B4-BE49-F238E27FC236}">
                <a16:creationId xmlns:a16="http://schemas.microsoft.com/office/drawing/2014/main" id="{86E63574-6FF9-48BA-AAA2-3B560931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RECORDS &amp; RELATIONSHIPS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34397114-AF34-4F84-8E7B-DAA94DFC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Family reunification keeps identity, relationships, and disclosure as separate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763AA-A831-4190-98CE-53CC5721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F4182B63-712E-42E6-9AFB-9EC262D3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6FF57723-5BE9-453E-A729-AAEB2CD1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box-54-238">
            <a:extLst xmlns:a="http://schemas.openxmlformats.org/drawingml/2006/main">
              <a:ext uri="{FF2B5EF4-FFF2-40B4-BE49-F238E27FC236}">
                <a16:creationId xmlns:a16="http://schemas.microsoft.com/office/drawing/2014/main" id="{56085FD0-A822-4AC0-9EE6-07788E17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9526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72-254">
            <a:extLst xmlns:a="http://schemas.openxmlformats.org/drawingml/2006/main">
              <a:ext uri="{FF2B5EF4-FFF2-40B4-BE49-F238E27FC236}">
                <a16:creationId xmlns:a16="http://schemas.microsoft.com/office/drawing/2014/main" id="{E376CFC2-A365-450B-B807-946CF58B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Source records</a:t>
            </a:r>
          </a:p>
        </p:txBody>
      </p:sp>
      <p:sp>
        <p:nvSpPr>
          <p:cNvPr id="8" name="text-72-287">
            <a:extLst xmlns:a="http://schemas.openxmlformats.org/drawingml/2006/main">
              <a:ext uri="{FF2B5EF4-FFF2-40B4-BE49-F238E27FC236}">
                <a16:creationId xmlns:a16="http://schemas.microsoft.com/office/drawing/2014/main" id="{FE09CD84-B5A2-4C60-A8BE-76F93D12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609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Missing · patient · unidentified · imports</a:t>
            </a:r>
          </a:p>
        </p:txBody>
      </p:sp>
      <p:sp>
        <p:nvSpPr>
          <p:cNvPr id="9" name="box-304-238">
            <a:extLst xmlns:a="http://schemas.openxmlformats.org/drawingml/2006/main">
              <a:ext uri="{FF2B5EF4-FFF2-40B4-BE49-F238E27FC236}">
                <a16:creationId xmlns:a16="http://schemas.microsoft.com/office/drawing/2014/main" id="{4066837C-67D9-4DCB-8248-4B0B301A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19526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D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ext-322-254">
            <a:extLst xmlns:a="http://schemas.openxmlformats.org/drawingml/2006/main">
              <a:ext uri="{FF2B5EF4-FFF2-40B4-BE49-F238E27FC236}">
                <a16:creationId xmlns:a16="http://schemas.microsoft.com/office/drawing/2014/main" id="{3588092D-6115-4F80-B71B-EED45F63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193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PRN registry</a:t>
            </a:r>
          </a:p>
        </p:txBody>
      </p:sp>
      <p:sp>
        <p:nvSpPr>
          <p:cNvPr id="11" name="text-322-287">
            <a:extLst xmlns:a="http://schemas.openxmlformats.org/drawingml/2006/main">
              <a:ext uri="{FF2B5EF4-FFF2-40B4-BE49-F238E27FC236}">
                <a16:creationId xmlns:a16="http://schemas.microsoft.com/office/drawing/2014/main" id="{556845E2-3231-4A09-804F-59BC4F60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33675"/>
            <a:ext cx="1609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Incident-scoped durable identity</a:t>
            </a:r>
          </a:p>
        </p:txBody>
      </p:sp>
      <p:sp>
        <p:nvSpPr>
          <p:cNvPr id="12" name="box-554-238">
            <a:extLst xmlns:a="http://schemas.openxmlformats.org/drawingml/2006/main">
              <a:ext uri="{FF2B5EF4-FFF2-40B4-BE49-F238E27FC236}">
                <a16:creationId xmlns:a16="http://schemas.microsoft.com/office/drawing/2014/main" id="{8D24319A-F333-4780-98CC-F07D15F2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19526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572-254">
            <a:extLst xmlns:a="http://schemas.openxmlformats.org/drawingml/2006/main">
              <a:ext uri="{FF2B5EF4-FFF2-40B4-BE49-F238E27FC236}">
                <a16:creationId xmlns:a16="http://schemas.microsoft.com/office/drawing/2014/main" id="{F57BFE44-6554-43F2-994D-A2396FD2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193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 proposals</a:t>
            </a:r>
          </a:p>
        </p:txBody>
      </p:sp>
      <p:sp>
        <p:nvSpPr>
          <p:cNvPr id="14" name="text-572-287">
            <a:extLst xmlns:a="http://schemas.openxmlformats.org/drawingml/2006/main">
              <a:ext uri="{FF2B5EF4-FFF2-40B4-BE49-F238E27FC236}">
                <a16:creationId xmlns:a16="http://schemas.microsoft.com/office/drawing/2014/main" id="{1B08CEDB-15D5-4D2C-938A-69A8E413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33675"/>
            <a:ext cx="1609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Deterministic evidence only</a:t>
            </a:r>
          </a:p>
        </p:txBody>
      </p:sp>
      <p:sp>
        <p:nvSpPr>
          <p:cNvPr id="15" name="box-804-238">
            <a:extLst xmlns:a="http://schemas.openxmlformats.org/drawingml/2006/main">
              <a:ext uri="{FF2B5EF4-FFF2-40B4-BE49-F238E27FC236}">
                <a16:creationId xmlns:a16="http://schemas.microsoft.com/office/drawing/2014/main" id="{762B60D8-4829-4C54-AD27-F06D46CF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19526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D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text-822-254">
            <a:extLst xmlns:a="http://schemas.openxmlformats.org/drawingml/2006/main">
              <a:ext uri="{FF2B5EF4-FFF2-40B4-BE49-F238E27FC236}">
                <a16:creationId xmlns:a16="http://schemas.microsoft.com/office/drawing/2014/main" id="{C0DE372C-DCE6-4172-B261-059AF4CE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193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17" name="text-822-287">
            <a:extLst xmlns:a="http://schemas.openxmlformats.org/drawingml/2006/main">
              <a:ext uri="{FF2B5EF4-FFF2-40B4-BE49-F238E27FC236}">
                <a16:creationId xmlns:a16="http://schemas.microsoft.com/office/drawing/2014/main" id="{4F53D3EA-C3C1-43F2-80EE-5B0D0921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33675"/>
            <a:ext cx="1609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Confirm · reject · unsure</a:t>
            </a:r>
          </a:p>
        </p:txBody>
      </p:sp>
      <p:sp>
        <p:nvSpPr>
          <p:cNvPr id="18" name="box-1054-238">
            <a:extLst xmlns:a="http://schemas.openxmlformats.org/drawingml/2006/main">
              <a:ext uri="{FF2B5EF4-FFF2-40B4-BE49-F238E27FC236}">
                <a16:creationId xmlns:a16="http://schemas.microsoft.com/office/drawing/2014/main" id="{7BDFBA7E-0DFD-414F-9C85-FFA022C9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66950"/>
            <a:ext cx="16573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-1072-254">
            <a:extLst xmlns:a="http://schemas.openxmlformats.org/drawingml/2006/main">
              <a:ext uri="{FF2B5EF4-FFF2-40B4-BE49-F238E27FC236}">
                <a16:creationId xmlns:a16="http://schemas.microsoft.com/office/drawing/2014/main" id="{C01D2EA4-DE3B-409C-962E-50E5E99A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193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5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cluster</a:t>
            </a:r>
          </a:p>
        </p:txBody>
      </p:sp>
      <p:sp>
        <p:nvSpPr>
          <p:cNvPr id="20" name="text-1072-287">
            <a:extLst xmlns:a="http://schemas.openxmlformats.org/drawingml/2006/main">
              <a:ext uri="{FF2B5EF4-FFF2-40B4-BE49-F238E27FC236}">
                <a16:creationId xmlns:a16="http://schemas.microsoft.com/office/drawing/2014/main" id="{0C06DAA4-2DF8-4875-B5C9-954E79EE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33675"/>
            <a:ext cx="1314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Reversible computed projection</a:t>
            </a:r>
          </a:p>
        </p:txBody>
      </p:sp>
      <p:cxnSp>
        <p:nvCxnSpPr>
          <p:cNvPr id="5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66975" y="28003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48225" y="28003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229475" y="28003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610725" y="28003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5" name="box-304-420">
            <a:extLst xmlns:a="http://schemas.openxmlformats.org/drawingml/2006/main">
              <a:ext uri="{FF2B5EF4-FFF2-40B4-BE49-F238E27FC236}">
                <a16:creationId xmlns:a16="http://schemas.microsoft.com/office/drawing/2014/main" id="{15FF8028-2EAE-4AEE-9831-C4F7DC54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00500"/>
            <a:ext cx="26670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322-436">
            <a:extLst xmlns:a="http://schemas.openxmlformats.org/drawingml/2006/main">
              <a:ext uri="{FF2B5EF4-FFF2-40B4-BE49-F238E27FC236}">
                <a16:creationId xmlns:a16="http://schemas.microsoft.com/office/drawing/2014/main" id="{DE66E3F1-48E2-4BE4-B1E6-78B536E2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Relationship assertions</a:t>
            </a:r>
          </a:p>
        </p:txBody>
      </p:sp>
      <p:sp>
        <p:nvSpPr>
          <p:cNvPr id="27" name="text-322-469">
            <a:extLst xmlns:a="http://schemas.openxmlformats.org/drawingml/2006/main">
              <a:ext uri="{FF2B5EF4-FFF2-40B4-BE49-F238E27FC236}">
                <a16:creationId xmlns:a16="http://schemas.microsoft.com/office/drawing/2014/main" id="{DE9CEE0B-A04D-4795-BD62-6D52F3B3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67225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PRN ↔ PRN · reviewed · reversible</a:t>
            </a:r>
          </a:p>
        </p:txBody>
      </p:sp>
      <p:sp>
        <p:nvSpPr>
          <p:cNvPr id="28" name="box-676-420">
            <a:extLst xmlns:a="http://schemas.openxmlformats.org/drawingml/2006/main">
              <a:ext uri="{FF2B5EF4-FFF2-40B4-BE49-F238E27FC236}">
                <a16:creationId xmlns:a16="http://schemas.microsoft.com/office/drawing/2014/main" id="{15AB36F0-773D-48AB-BAAD-12576424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28575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ext-694-436">
            <a:extLst xmlns:a="http://schemas.openxmlformats.org/drawingml/2006/main">
              <a:ext uri="{FF2B5EF4-FFF2-40B4-BE49-F238E27FC236}">
                <a16:creationId xmlns:a16="http://schemas.microsoft.com/office/drawing/2014/main" id="{EA58E263-2062-42A0-A3FA-B0BBC342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529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Tracing and reunification cases</a:t>
            </a:r>
          </a:p>
        </p:txBody>
      </p:sp>
      <p:sp>
        <p:nvSpPr>
          <p:cNvPr id="30" name="text-694-469">
            <a:extLst xmlns:a="http://schemas.openxmlformats.org/drawingml/2006/main">
              <a:ext uri="{FF2B5EF4-FFF2-40B4-BE49-F238E27FC236}">
                <a16:creationId xmlns:a16="http://schemas.microsoft.com/office/drawing/2014/main" id="{FE605633-F28B-4AB0-99D1-2409B54A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2514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Contact, disclosure, handoff, reunion</a:t>
            </a:r>
          </a:p>
        </p:txBody>
      </p:sp>
      <p:cxnSp>
        <p:nvCxnSpPr>
          <p:cNvPr id="65" name=""/>
          <p:cNvCxnSpPr>
            <a:stCxn xmlns:a="http://schemas.openxmlformats.org/drawingml/2006/main" id="9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871913" y="3333750"/>
            <a:ext cx="357188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dash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562600" y="449580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8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7867650" y="3333750"/>
            <a:ext cx="300037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C6470"/>
            </a:solidFill>
            <a:prstDash val="dash"/>
            <a:tailEnd type="arrow" w="med" len="med"/>
          </a:ln>
        </p:spPr>
      </p:cxnSp>
      <p:sp>
        <p:nvSpPr>
          <p:cNvPr id="34" name="text-190-573">
            <a:extLst xmlns:a="http://schemas.openxmlformats.org/drawingml/2006/main">
              <a:ext uri="{FF2B5EF4-FFF2-40B4-BE49-F238E27FC236}">
                <a16:creationId xmlns:a16="http://schemas.microsoft.com/office/drawing/2014/main" id="{A8DC10DD-D470-48BC-A8D8-A5774D27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578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9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A relationship never merges identity. A match never automatically publishes location or contact.</a:t>
            </a:r>
          </a:p>
        </p:txBody>
      </p:sp>
    </p:spTree>
    <p:extLst>
      <p:ext uri="{BB962C8B-B14F-4D97-AF65-F5344CB8AC3E}">
        <p14:creationId xmlns:p14="http://schemas.microsoft.com/office/powerpoint/2010/main" val="1823607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52-34">
            <a:extLst xmlns:a="http://schemas.openxmlformats.org/drawingml/2006/main">
              <a:ext uri="{FF2B5EF4-FFF2-40B4-BE49-F238E27FC236}">
                <a16:creationId xmlns:a16="http://schemas.microsoft.com/office/drawing/2014/main" id="{5EE39434-345C-44E4-909F-8B32A840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RAPID RESPONSE LAUNCH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33F163F4-F8A4-4828-A3A1-C96D2C6A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response launches through a resumable provisioning ledger—not a checklist in someone’s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EF581-7A7E-45F7-8D58-F6BC3F78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6E5B793E-FA37-4631-B8EA-CF74E710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9BAEDCF9-4726-422A-99EC-670503FD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text-52-200">
            <a:extLst xmlns:a="http://schemas.openxmlformats.org/drawingml/2006/main">
              <a:ext uri="{FF2B5EF4-FFF2-40B4-BE49-F238E27FC236}">
                <a16:creationId xmlns:a16="http://schemas.microsoft.com/office/drawing/2014/main" id="{5643BFE8-BB6C-4B33-8D0F-F758BFB2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FB1AE-BDE3-4F40-8467-A0881D85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text-52-267">
            <a:extLst xmlns:a="http://schemas.openxmlformats.org/drawingml/2006/main">
              <a:ext uri="{FF2B5EF4-FFF2-40B4-BE49-F238E27FC236}">
                <a16:creationId xmlns:a16="http://schemas.microsoft.com/office/drawing/2014/main" id="{7C70255C-9822-4122-B609-B0388A20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431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9" name="text-52-321">
            <a:extLst xmlns:a="http://schemas.openxmlformats.org/drawingml/2006/main">
              <a:ext uri="{FF2B5EF4-FFF2-40B4-BE49-F238E27FC236}">
                <a16:creationId xmlns:a16="http://schemas.microsoft.com/office/drawing/2014/main" id="{3C8CA65D-AD23-45DB-821D-70311825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57525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Manifest validates identity, domains, modules, providers, roles, budgets</a:t>
            </a:r>
          </a:p>
        </p:txBody>
      </p:sp>
      <p:sp>
        <p:nvSpPr>
          <p:cNvPr id="10" name="text-450-200">
            <a:extLst xmlns:a="http://schemas.openxmlformats.org/drawingml/2006/main">
              <a:ext uri="{FF2B5EF4-FFF2-40B4-BE49-F238E27FC236}">
                <a16:creationId xmlns:a16="http://schemas.microsoft.com/office/drawing/2014/main" id="{2385C79F-2B9F-41AD-A22F-7C960C1E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454FA-E33C-4198-BB5A-DCB7FBEE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text-450-267">
            <a:extLst xmlns:a="http://schemas.openxmlformats.org/drawingml/2006/main">
              <a:ext uri="{FF2B5EF4-FFF2-40B4-BE49-F238E27FC236}">
                <a16:creationId xmlns:a16="http://schemas.microsoft.com/office/drawing/2014/main" id="{B41D988E-10B5-4198-ABB9-353D191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31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Preview</a:t>
            </a:r>
          </a:p>
        </p:txBody>
      </p:sp>
      <p:sp>
        <p:nvSpPr>
          <p:cNvPr id="13" name="text-450-321">
            <a:extLst xmlns:a="http://schemas.openxmlformats.org/drawingml/2006/main">
              <a:ext uri="{FF2B5EF4-FFF2-40B4-BE49-F238E27FC236}">
                <a16:creationId xmlns:a16="http://schemas.microsoft.com/office/drawing/2014/main" id="{3A4F9A4A-A3D2-45FF-B684-F773CF6E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Protected site, synthetic data, channels off, isolation and rollback tests</a:t>
            </a:r>
          </a:p>
        </p:txBody>
      </p:sp>
      <p:sp>
        <p:nvSpPr>
          <p:cNvPr id="14" name="text-848-200">
            <a:extLst xmlns:a="http://schemas.openxmlformats.org/drawingml/2006/main">
              <a:ext uri="{FF2B5EF4-FFF2-40B4-BE49-F238E27FC236}">
                <a16:creationId xmlns:a16="http://schemas.microsoft.com/office/drawing/2014/main" id="{A5F053D0-9C84-47B0-89A1-5E3095F6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05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2FA85-3388-450C-8F0A-A482F670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text-848-267">
            <a:extLst xmlns:a="http://schemas.openxmlformats.org/drawingml/2006/main">
              <a:ext uri="{FF2B5EF4-FFF2-40B4-BE49-F238E27FC236}">
                <a16:creationId xmlns:a16="http://schemas.microsoft.com/office/drawing/2014/main" id="{CEDF8CE6-C113-45C7-A7A7-C84DA177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4317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Activate</a:t>
            </a:r>
          </a:p>
        </p:txBody>
      </p:sp>
      <p:sp>
        <p:nvSpPr>
          <p:cNvPr id="17" name="text-848-321">
            <a:extLst xmlns:a="http://schemas.openxmlformats.org/drawingml/2006/main">
              <a:ext uri="{FF2B5EF4-FFF2-40B4-BE49-F238E27FC236}">
                <a16:creationId xmlns:a16="http://schemas.microsoft.com/office/drawing/2014/main" id="{F97DA3B4-04D1-42CB-9B3C-D377D2B4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57525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Distinct approval; route, reads, writes, producers, then notifications</a:t>
            </a:r>
          </a:p>
        </p:txBody>
      </p:sp>
      <p:sp>
        <p:nvSpPr>
          <p:cNvPr id="18" name="text-52-464">
            <a:extLst xmlns:a="http://schemas.openxmlformats.org/drawingml/2006/main">
              <a:ext uri="{FF2B5EF4-FFF2-40B4-BE49-F238E27FC236}">
                <a16:creationId xmlns:a16="http://schemas.microsoft.com/office/drawing/2014/main" id="{0894928A-A6A2-42DB-A040-B7CEDF97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CHANNEL REGISTRY</a:t>
            </a:r>
          </a:p>
        </p:txBody>
      </p:sp>
      <p:sp>
        <p:nvSpPr>
          <p:cNvPr id="19" name="box-52-500">
            <a:extLst xmlns:a="http://schemas.openxmlformats.org/drawingml/2006/main">
              <a:ext uri="{FF2B5EF4-FFF2-40B4-BE49-F238E27FC236}">
                <a16:creationId xmlns:a16="http://schemas.microsoft.com/office/drawing/2014/main" id="{63381412-9414-4CC8-9569-BB39FADC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3124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70-518">
            <a:extLst xmlns:a="http://schemas.openxmlformats.org/drawingml/2006/main">
              <a:ext uri="{FF2B5EF4-FFF2-40B4-BE49-F238E27FC236}">
                <a16:creationId xmlns:a16="http://schemas.microsoft.com/office/drawing/2014/main" id="{C4C52403-75B9-4A62-A928-67255B8D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WhatsApp discovery</a:t>
            </a:r>
          </a:p>
        </p:txBody>
      </p:sp>
      <p:sp>
        <p:nvSpPr>
          <p:cNvPr id="21" name="text-70-557">
            <a:extLst xmlns:a="http://schemas.openxmlformats.org/drawingml/2006/main">
              <a:ext uri="{FF2B5EF4-FFF2-40B4-BE49-F238E27FC236}">
                <a16:creationId xmlns:a16="http://schemas.microsoft.com/office/drawing/2014/main" id="{4D611367-532E-4A8A-9865-C94A109D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Verified group/community invitation; manual step allowed</a:t>
            </a:r>
          </a:p>
        </p:txBody>
      </p:sp>
      <p:sp>
        <p:nvSpPr>
          <p:cNvPr id="22" name="box-450-500">
            <a:extLst xmlns:a="http://schemas.openxmlformats.org/drawingml/2006/main">
              <a:ext uri="{FF2B5EF4-FFF2-40B4-BE49-F238E27FC236}">
                <a16:creationId xmlns:a16="http://schemas.microsoft.com/office/drawing/2014/main" id="{A5FDC806-82CE-4A1D-AF23-749F7D5E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124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-468-518">
            <a:extLst xmlns:a="http://schemas.openxmlformats.org/drawingml/2006/main">
              <a:ext uri="{FF2B5EF4-FFF2-40B4-BE49-F238E27FC236}">
                <a16:creationId xmlns:a16="http://schemas.microsoft.com/office/drawing/2014/main" id="{419EA340-4B52-4D93-B57E-F5D4C3F4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33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WhatsApp Business</a:t>
            </a:r>
          </a:p>
        </p:txBody>
      </p:sp>
      <p:sp>
        <p:nvSpPr>
          <p:cNvPr id="24" name="text-468-557">
            <a:extLst xmlns:a="http://schemas.openxmlformats.org/drawingml/2006/main">
              <a:ext uri="{FF2B5EF4-FFF2-40B4-BE49-F238E27FC236}">
                <a16:creationId xmlns:a16="http://schemas.microsoft.com/office/drawing/2014/main" id="{A6B5BE19-0CA7-4395-954B-6E23A48C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05425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Approved one-to-one/template messaging provider</a:t>
            </a:r>
          </a:p>
        </p:txBody>
      </p:sp>
      <p:sp>
        <p:nvSpPr>
          <p:cNvPr id="25" name="box-848-500">
            <a:extLst xmlns:a="http://schemas.openxmlformats.org/drawingml/2006/main">
              <a:ext uri="{FF2B5EF4-FFF2-40B4-BE49-F238E27FC236}">
                <a16:creationId xmlns:a16="http://schemas.microsoft.com/office/drawing/2014/main" id="{223A12FE-64C6-4C6E-B24B-0F1F921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62500"/>
            <a:ext cx="3124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866-518">
            <a:extLst xmlns:a="http://schemas.openxmlformats.org/drawingml/2006/main">
              <a:ext uri="{FF2B5EF4-FFF2-40B4-BE49-F238E27FC236}">
                <a16:creationId xmlns:a16="http://schemas.microsoft.com/office/drawing/2014/main" id="{958CDB74-DF1F-4169-8454-2050F93F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33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Other channels</a:t>
            </a:r>
          </a:p>
        </p:txBody>
      </p:sp>
      <p:sp>
        <p:nvSpPr>
          <p:cNvPr id="27" name="text-866-557">
            <a:extLst xmlns:a="http://schemas.openxmlformats.org/drawingml/2006/main">
              <a:ext uri="{FF2B5EF4-FFF2-40B4-BE49-F238E27FC236}">
                <a16:creationId xmlns:a16="http://schemas.microsoft.com/office/drawing/2014/main" id="{C13F26F2-6719-4FD9-9FCD-49ECD012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05425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Email · SMS · social · forms · webhooks · partners</a:t>
            </a:r>
          </a:p>
        </p:txBody>
      </p:sp>
    </p:spTree>
    <p:extLst>
      <p:ext uri="{BB962C8B-B14F-4D97-AF65-F5344CB8AC3E}">
        <p14:creationId xmlns:p14="http://schemas.microsoft.com/office/powerpoint/2010/main" val="17696119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52-34">
            <a:extLst xmlns:a="http://schemas.openxmlformats.org/drawingml/2006/main">
              <a:ext uri="{FF2B5EF4-FFF2-40B4-BE49-F238E27FC236}">
                <a16:creationId xmlns:a16="http://schemas.microsoft.com/office/drawing/2014/main" id="{693CDF7C-C246-4D49-B5FB-059EDC75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GOVERNANCE &amp; ADMIN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90EFB3C0-DCED-4F25-81DD-3F24CF42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and response administration remain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FFEFE-0753-4AA5-B078-5293CF7B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27735307-A62B-4AB4-A5C7-B47CDCA6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AC2F1026-DEF7-44EB-8C30-05682EA5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text-52-195">
            <a:extLst xmlns:a="http://schemas.openxmlformats.org/drawingml/2006/main">
              <a:ext uri="{FF2B5EF4-FFF2-40B4-BE49-F238E27FC236}">
                <a16:creationId xmlns:a16="http://schemas.microsoft.com/office/drawing/2014/main" id="{BA63AAE8-3F33-4299-BD44-2FDC724B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PLATFORM SCOPE</a:t>
            </a:r>
          </a:p>
        </p:txBody>
      </p:sp>
      <p:sp>
        <p:nvSpPr>
          <p:cNvPr id="7" name="box-52-225">
            <a:extLst xmlns:a="http://schemas.openxmlformats.org/drawingml/2006/main">
              <a:ext uri="{FF2B5EF4-FFF2-40B4-BE49-F238E27FC236}">
                <a16:creationId xmlns:a16="http://schemas.microsoft.com/office/drawing/2014/main" id="{A158823D-4C7F-49B5-87AF-F831BEAB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3124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-72-249">
            <a:extLst xmlns:a="http://schemas.openxmlformats.org/drawingml/2006/main">
              <a:ext uri="{FF2B5EF4-FFF2-40B4-BE49-F238E27FC236}">
                <a16:creationId xmlns:a16="http://schemas.microsoft.com/office/drawing/2014/main" id="{FF57D0CE-054B-40E3-99B7-D3277047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Mallanet operations</a:t>
            </a:r>
          </a:p>
        </p:txBody>
      </p:sp>
      <p:sp>
        <p:nvSpPr>
          <p:cNvPr id="9" name="text-72-325">
            <a:extLst xmlns:a="http://schemas.openxmlformats.org/drawingml/2006/main">
              <a:ext uri="{FF2B5EF4-FFF2-40B4-BE49-F238E27FC236}">
                <a16:creationId xmlns:a16="http://schemas.microsoft.com/office/drawing/2014/main" id="{7DFDA6D2-712F-4F8B-A51F-90F01B3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743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Organizations · deployments · releases</a:t>
            </a:r>
          </a:p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source/provider health · readiness</a:t>
            </a:r>
          </a:p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security · support · aggregate reporting</a:t>
            </a:r>
          </a:p>
        </p:txBody>
      </p:sp>
      <p:sp>
        <p:nvSpPr>
          <p:cNvPr id="10" name="text-450-195">
            <a:extLst xmlns:a="http://schemas.openxmlformats.org/drawingml/2006/main">
              <a:ext uri="{FF2B5EF4-FFF2-40B4-BE49-F238E27FC236}">
                <a16:creationId xmlns:a16="http://schemas.microsoft.com/office/drawing/2014/main" id="{782C0178-A8AA-4E54-BB84-FC35EF89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57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ORGANIZATION SCOPE</a:t>
            </a:r>
          </a:p>
        </p:txBody>
      </p:sp>
      <p:sp>
        <p:nvSpPr>
          <p:cNvPr id="11" name="box-450-225">
            <a:extLst xmlns:a="http://schemas.openxmlformats.org/drawingml/2006/main">
              <a:ext uri="{FF2B5EF4-FFF2-40B4-BE49-F238E27FC236}">
                <a16:creationId xmlns:a16="http://schemas.microsoft.com/office/drawing/2014/main" id="{1DE551F4-ED0D-44C7-B033-3CFB27BC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124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470-249">
            <a:extLst xmlns:a="http://schemas.openxmlformats.org/drawingml/2006/main">
              <a:ext uri="{FF2B5EF4-FFF2-40B4-BE49-F238E27FC236}">
                <a16:creationId xmlns:a16="http://schemas.microsoft.com/office/drawing/2014/main" id="{A49DE8CA-7BA2-47E3-9650-0BB58770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71725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8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Organization governance</a:t>
            </a:r>
          </a:p>
        </p:txBody>
      </p:sp>
      <p:sp>
        <p:nvSpPr>
          <p:cNvPr id="13" name="text-470-325">
            <a:extLst xmlns:a="http://schemas.openxmlformats.org/drawingml/2006/main">
              <a:ext uri="{FF2B5EF4-FFF2-40B4-BE49-F238E27FC236}">
                <a16:creationId xmlns:a16="http://schemas.microsoft.com/office/drawing/2014/main" id="{ACE943F3-0E61-400E-AD9C-A5A63BD8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2743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Membership · recovery · role templates</a:t>
            </a:r>
          </a:p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policies · response inventory</a:t>
            </a:r>
          </a:p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channel ownership · org aggregates</a:t>
            </a:r>
          </a:p>
        </p:txBody>
      </p:sp>
      <p:sp>
        <p:nvSpPr>
          <p:cNvPr id="14" name="text-848-195">
            <a:extLst xmlns:a="http://schemas.openxmlformats.org/drawingml/2006/main">
              <a:ext uri="{FF2B5EF4-FFF2-40B4-BE49-F238E27FC236}">
                <a16:creationId xmlns:a16="http://schemas.microsoft.com/office/drawing/2014/main" id="{4C581424-08DF-48B0-BBE8-D2EBB236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57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INCIDENT SCOPE</a:t>
            </a:r>
          </a:p>
        </p:txBody>
      </p:sp>
      <p:sp>
        <p:nvSpPr>
          <p:cNvPr id="15" name="box-848-225">
            <a:extLst xmlns:a="http://schemas.openxmlformats.org/drawingml/2006/main">
              <a:ext uri="{FF2B5EF4-FFF2-40B4-BE49-F238E27FC236}">
                <a16:creationId xmlns:a16="http://schemas.microsoft.com/office/drawing/2014/main" id="{F6F51B61-86A8-475E-A409-69F589AE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1242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-868-249">
            <a:extLst xmlns:a="http://schemas.openxmlformats.org/drawingml/2006/main">
              <a:ext uri="{FF2B5EF4-FFF2-40B4-BE49-F238E27FC236}">
                <a16:creationId xmlns:a16="http://schemas.microsoft.com/office/drawing/2014/main" id="{F108C158-7885-485B-A67C-8DEF0279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71725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Incident command</a:t>
            </a:r>
          </a:p>
        </p:txBody>
      </p:sp>
      <p:sp>
        <p:nvSpPr>
          <p:cNvPr id="17" name="text-868-325">
            <a:extLst xmlns:a="http://schemas.openxmlformats.org/drawingml/2006/main">
              <a:ext uri="{FF2B5EF4-FFF2-40B4-BE49-F238E27FC236}">
                <a16:creationId xmlns:a16="http://schemas.microsoft.com/office/drawing/2014/main" id="{71D6DB0C-139C-46E2-A621-4EFB0BFA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95625"/>
            <a:ext cx="2743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Modules · volunteers · content · queues</a:t>
            </a:r>
          </a:p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cases · providers · readiness</a:t>
            </a:r>
          </a:p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approved communications</a:t>
            </a:r>
          </a:p>
        </p:txBody>
      </p:sp>
      <p:sp>
        <p:nvSpPr>
          <p:cNvPr id="18" name="box-150-553">
            <a:extLst xmlns:a="http://schemas.openxmlformats.org/drawingml/2006/main">
              <a:ext uri="{FF2B5EF4-FFF2-40B4-BE49-F238E27FC236}">
                <a16:creationId xmlns:a16="http://schemas.microsoft.com/office/drawing/2014/main" id="{A68CB94D-BF68-44E3-9723-EC496423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9334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78-570">
            <a:extLst xmlns:a="http://schemas.openxmlformats.org/drawingml/2006/main">
              <a:ext uri="{FF2B5EF4-FFF2-40B4-BE49-F238E27FC236}">
                <a16:creationId xmlns:a16="http://schemas.microsoft.com/office/drawing/2014/main" id="{2BA66DC9-0CE2-4AD3-ADA5-BCC1A984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29250"/>
            <a:ext cx="880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 staff do not gain tenant-data access. Support requires an exact, visible, expiring grant.</a:t>
            </a:r>
          </a:p>
        </p:txBody>
      </p:sp>
    </p:spTree>
    <p:extLst>
      <p:ext uri="{BB962C8B-B14F-4D97-AF65-F5344CB8AC3E}">
        <p14:creationId xmlns:p14="http://schemas.microsoft.com/office/powerpoint/2010/main" val="19025323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52-34">
            <a:extLst xmlns:a="http://schemas.openxmlformats.org/drawingml/2006/main">
              <a:ext uri="{FF2B5EF4-FFF2-40B4-BE49-F238E27FC236}">
                <a16:creationId xmlns:a16="http://schemas.microsoft.com/office/drawing/2014/main" id="{2734BA75-B722-4FEB-ACE3-143D7C36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CACHE ARCHITECTURE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C594C130-66FE-4194-9E0D-940EA7DB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Upstash improves shared-read performance without becoming system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A4451-699D-43DE-A294-B7F79BC4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881A8890-9EAF-4133-914B-733AD2F9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9889C6C5-24EF-488E-83B2-9037F66D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box-52-240">
            <a:extLst xmlns:a="http://schemas.openxmlformats.org/drawingml/2006/main">
              <a:ext uri="{FF2B5EF4-FFF2-40B4-BE49-F238E27FC236}">
                <a16:creationId xmlns:a16="http://schemas.microsoft.com/office/drawing/2014/main" id="{82DDB883-5191-4C8C-A1E4-A37DA800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2000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D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text-70-256">
            <a:extLst xmlns:a="http://schemas.openxmlformats.org/drawingml/2006/main">
              <a:ext uri="{FF2B5EF4-FFF2-40B4-BE49-F238E27FC236}">
                <a16:creationId xmlns:a16="http://schemas.microsoft.com/office/drawing/2014/main" id="{5C1D9B30-B669-4C33-B97C-A1B4547E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Trusted resolver</a:t>
            </a:r>
          </a:p>
        </p:txBody>
      </p:sp>
      <p:sp>
        <p:nvSpPr>
          <p:cNvPr id="8" name="text-70-289">
            <a:extLst xmlns:a="http://schemas.openxmlformats.org/drawingml/2006/main">
              <a:ext uri="{FF2B5EF4-FFF2-40B4-BE49-F238E27FC236}">
                <a16:creationId xmlns:a16="http://schemas.microsoft.com/office/drawing/2014/main" id="{F0F2C094-6C6C-4F1A-9114-B8889926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1657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Host + credentials + TenantScope + epoch</a:t>
            </a:r>
          </a:p>
        </p:txBody>
      </p:sp>
      <p:sp>
        <p:nvSpPr>
          <p:cNvPr id="9" name="box-316-240">
            <a:extLst xmlns:a="http://schemas.openxmlformats.org/drawingml/2006/main">
              <a:ext uri="{FF2B5EF4-FFF2-40B4-BE49-F238E27FC236}">
                <a16:creationId xmlns:a16="http://schemas.microsoft.com/office/drawing/2014/main" id="{64303ACA-A2A5-4043-807A-A3D8C0FE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86000"/>
            <a:ext cx="1809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334-256">
            <a:extLst xmlns:a="http://schemas.openxmlformats.org/drawingml/2006/main">
              <a:ext uri="{FF2B5EF4-FFF2-40B4-BE49-F238E27FC236}">
                <a16:creationId xmlns:a16="http://schemas.microsoft.com/office/drawing/2014/main" id="{F61B80F9-002E-4BFC-87F1-2C5DC64F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384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L0 / L1</a:t>
            </a:r>
          </a:p>
        </p:txBody>
      </p:sp>
      <p:sp>
        <p:nvSpPr>
          <p:cNvPr id="11" name="text-334-289">
            <a:extLst xmlns:a="http://schemas.openxmlformats.org/drawingml/2006/main">
              <a:ext uri="{FF2B5EF4-FFF2-40B4-BE49-F238E27FC236}">
                <a16:creationId xmlns:a16="http://schemas.microsoft.com/office/drawing/2014/main" id="{5F9B2AC7-C751-4A82-8C1B-33C43035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52725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Request + bounded process memory</a:t>
            </a:r>
          </a:p>
        </p:txBody>
      </p:sp>
      <p:sp>
        <p:nvSpPr>
          <p:cNvPr id="12" name="box-560-240">
            <a:extLst xmlns:a="http://schemas.openxmlformats.org/drawingml/2006/main">
              <a:ext uri="{FF2B5EF4-FFF2-40B4-BE49-F238E27FC236}">
                <a16:creationId xmlns:a16="http://schemas.microsoft.com/office/drawing/2014/main" id="{5D40FF7C-1A3A-443B-96AE-7DEAA40A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1809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D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text-578-256">
            <a:extLst xmlns:a="http://schemas.openxmlformats.org/drawingml/2006/main">
              <a:ext uri="{FF2B5EF4-FFF2-40B4-BE49-F238E27FC236}">
                <a16:creationId xmlns:a16="http://schemas.microsoft.com/office/drawing/2014/main" id="{7EED560F-9CBC-46B9-95CE-70B2967A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L2 Upstash</a:t>
            </a:r>
          </a:p>
        </p:txBody>
      </p:sp>
      <p:sp>
        <p:nvSpPr>
          <p:cNvPr id="14" name="text-578-289">
            <a:extLst xmlns:a="http://schemas.openxmlformats.org/drawingml/2006/main">
              <a:ext uri="{FF2B5EF4-FFF2-40B4-BE49-F238E27FC236}">
                <a16:creationId xmlns:a16="http://schemas.microsoft.com/office/drawing/2014/main" id="{17F7E0C5-7586-4C21-86AB-960EDCC8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52725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Disposable shared result cache</a:t>
            </a:r>
          </a:p>
        </p:txBody>
      </p:sp>
      <p:sp>
        <p:nvSpPr>
          <p:cNvPr id="15" name="box-804-240">
            <a:extLst xmlns:a="http://schemas.openxmlformats.org/drawingml/2006/main">
              <a:ext uri="{FF2B5EF4-FFF2-40B4-BE49-F238E27FC236}">
                <a16:creationId xmlns:a16="http://schemas.microsoft.com/office/drawing/2014/main" id="{1B6153B5-2592-4CCC-A902-ABA16A3B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1809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167C59"/>
            </a:solidFill>
            <a:prstDash val="solid"/>
          </a:ln>
        </p:spPr>
      </p:sp>
      <p:sp>
        <p:nvSpPr>
          <p:cNvPr id="16" name="text-822-256">
            <a:extLst xmlns:a="http://schemas.openxmlformats.org/drawingml/2006/main">
              <a:ext uri="{FF2B5EF4-FFF2-40B4-BE49-F238E27FC236}">
                <a16:creationId xmlns:a16="http://schemas.microsoft.com/office/drawing/2014/main" id="{64BCD6CC-AFEE-4F49-B0CF-5B774A76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384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Postgres</a:t>
            </a:r>
          </a:p>
        </p:txBody>
      </p:sp>
      <p:sp>
        <p:nvSpPr>
          <p:cNvPr id="17" name="text-822-289">
            <a:extLst xmlns:a="http://schemas.openxmlformats.org/drawingml/2006/main">
              <a:ext uri="{FF2B5EF4-FFF2-40B4-BE49-F238E27FC236}">
                <a16:creationId xmlns:a16="http://schemas.microsoft.com/office/drawing/2014/main" id="{89EB36CC-77E7-457B-AEF5-34118648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52725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Authoritative scoped repositories</a:t>
            </a:r>
          </a:p>
        </p:txBody>
      </p:sp>
      <p:sp>
        <p:nvSpPr>
          <p:cNvPr id="18" name="box-1038-240">
            <a:extLst xmlns:a="http://schemas.openxmlformats.org/drawingml/2006/main">
              <a:ext uri="{FF2B5EF4-FFF2-40B4-BE49-F238E27FC236}">
                <a16:creationId xmlns:a16="http://schemas.microsoft.com/office/drawing/2014/main" id="{4444702B-6701-4C29-8422-04367F1A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86000"/>
            <a:ext cx="1809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-1056-256">
            <a:extLst xmlns:a="http://schemas.openxmlformats.org/drawingml/2006/main">
              <a:ext uri="{FF2B5EF4-FFF2-40B4-BE49-F238E27FC236}">
                <a16:creationId xmlns:a16="http://schemas.microsoft.com/office/drawing/2014/main" id="{9C21BCC8-087F-4450-983A-A7A87328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384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L3 edge</a:t>
            </a:r>
          </a:p>
        </p:txBody>
      </p:sp>
      <p:sp>
        <p:nvSpPr>
          <p:cNvPr id="20" name="text-1056-289">
            <a:extLst xmlns:a="http://schemas.openxmlformats.org/drawingml/2006/main">
              <a:ext uri="{FF2B5EF4-FFF2-40B4-BE49-F238E27FC236}">
                <a16:creationId xmlns:a16="http://schemas.microsoft.com/office/drawing/2014/main" id="{C4245CA0-354A-40A4-B0F7-982FCF68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52725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Cloudflare public HTTP cache</a:t>
            </a:r>
          </a:p>
        </p:txBody>
      </p: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95550" y="2819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19650" y="2819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43750" y="2819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467850" y="28194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5" name="text-170-400">
            <a:extLst xmlns:a="http://schemas.openxmlformats.org/drawingml/2006/main">
              <a:ext uri="{FF2B5EF4-FFF2-40B4-BE49-F238E27FC236}">
                <a16:creationId xmlns:a16="http://schemas.microsoft.com/office/drawing/2014/main" id="{7765A70E-D59E-4181-9621-77D89CE2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Every key includes environment + organization + incident + deployment/config + epoch + schema.</a:t>
            </a:r>
          </a:p>
        </p:txBody>
      </p:sp>
      <p:sp>
        <p:nvSpPr>
          <p:cNvPr id="26" name="box-52-474">
            <a:extLst xmlns:a="http://schemas.openxmlformats.org/drawingml/2006/main">
              <a:ext uri="{FF2B5EF4-FFF2-40B4-BE49-F238E27FC236}">
                <a16:creationId xmlns:a16="http://schemas.microsoft.com/office/drawing/2014/main" id="{9F815C89-7105-40B4-A442-0D89F381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514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7" name="text-72-493">
            <a:extLst xmlns:a="http://schemas.openxmlformats.org/drawingml/2006/main">
              <a:ext uri="{FF2B5EF4-FFF2-40B4-BE49-F238E27FC236}">
                <a16:creationId xmlns:a16="http://schemas.microsoft.com/office/drawing/2014/main" id="{43EF3F70-BFDB-40E1-9880-8F9EF1D4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Always no-store</a:t>
            </a:r>
          </a:p>
        </p:txBody>
      </p:sp>
      <p:sp>
        <p:nvSpPr>
          <p:cNvPr id="28" name="text-72-535">
            <a:extLst xmlns:a="http://schemas.openxmlformats.org/drawingml/2006/main">
              <a:ext uri="{FF2B5EF4-FFF2-40B4-BE49-F238E27FC236}">
                <a16:creationId xmlns:a16="http://schemas.microsoft.com/office/drawing/2014/main" id="{769BC562-C3A4-41CF-B20B-0A39C85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Auth · grants · support · cases · family/person/contact · consent · privacy operations</a:t>
            </a:r>
          </a:p>
        </p:txBody>
      </p:sp>
      <p:sp>
        <p:nvSpPr>
          <p:cNvPr id="29" name="box-636-474">
            <a:extLst xmlns:a="http://schemas.openxmlformats.org/drawingml/2006/main">
              <a:ext uri="{FF2B5EF4-FFF2-40B4-BE49-F238E27FC236}">
                <a16:creationId xmlns:a16="http://schemas.microsoft.com/office/drawing/2014/main" id="{A5864397-B76F-4DDE-889A-1C4B963B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14850"/>
            <a:ext cx="5638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xt-656-493">
            <a:extLst xmlns:a="http://schemas.openxmlformats.org/drawingml/2006/main">
              <a:ext uri="{FF2B5EF4-FFF2-40B4-BE49-F238E27FC236}">
                <a16:creationId xmlns:a16="http://schemas.microsoft.com/office/drawing/2014/main" id="{EE78FCD0-C02B-48B7-9577-29D5C1C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95825"/>
            <a:ext cx="525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Separate systems</a:t>
            </a:r>
          </a:p>
        </p:txBody>
      </p:sp>
      <p:sp>
        <p:nvSpPr>
          <p:cNvPr id="31" name="text-656-535">
            <a:extLst xmlns:a="http://schemas.openxmlformats.org/drawingml/2006/main">
              <a:ext uri="{FF2B5EF4-FFF2-40B4-BE49-F238E27FC236}">
                <a16:creationId xmlns:a16="http://schemas.microsoft.com/office/drawing/2014/main" id="{8792A41D-9073-4CD6-83CC-B6C0FE3B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95875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R2 media · Cloudflare Queues · BullMQ/Valkey · rate limits · sessions · approvals</a:t>
            </a:r>
          </a:p>
        </p:txBody>
      </p:sp>
    </p:spTree>
    <p:extLst>
      <p:ext uri="{BB962C8B-B14F-4D97-AF65-F5344CB8AC3E}">
        <p14:creationId xmlns:p14="http://schemas.microsoft.com/office/powerpoint/2010/main" val="4961669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52-34">
            <a:extLst xmlns:a="http://schemas.openxmlformats.org/drawingml/2006/main">
              <a:ext uri="{FF2B5EF4-FFF2-40B4-BE49-F238E27FC236}">
                <a16:creationId xmlns:a16="http://schemas.microsoft.com/office/drawing/2014/main" id="{09995D82-D7C0-4D3F-BB29-39569209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ZERO-PLANNED-DOWNTIME MIGRATION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B1D173DC-ED0E-4333-81EC-30F22431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 build beside production, prove compatibility, then promote the exact tested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254D0-E700-4F9D-A1C8-CAB76F28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2A73AEB2-B543-41A0-9906-23D10E61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981710BF-9335-4EEB-B1CF-81CA812B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8F0B9-6F92-4289-927E-93C39F09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7" name="box-112-329">
            <a:extLst xmlns:a="http://schemas.openxmlformats.org/drawingml/2006/main">
              <a:ext uri="{FF2B5EF4-FFF2-40B4-BE49-F238E27FC236}">
                <a16:creationId xmlns:a16="http://schemas.microsoft.com/office/drawing/2014/main" id="{E194CAD6-D4AF-499D-87A1-CAC062DB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50-274">
            <a:extLst xmlns:a="http://schemas.openxmlformats.org/drawingml/2006/main">
              <a:ext uri="{FF2B5EF4-FFF2-40B4-BE49-F238E27FC236}">
                <a16:creationId xmlns:a16="http://schemas.microsoft.com/office/drawing/2014/main" id="{B03B6161-2516-4D99-8041-5050D76C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9" name="text-28-375">
            <a:extLst xmlns:a="http://schemas.openxmlformats.org/drawingml/2006/main">
              <a:ext uri="{FF2B5EF4-FFF2-40B4-BE49-F238E27FC236}">
                <a16:creationId xmlns:a16="http://schemas.microsoft.com/office/drawing/2014/main" id="{A0651EC8-5C87-43AB-B3F3-34E4DDA6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7187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exact main SHA</a:t>
            </a:r>
          </a:p>
        </p:txBody>
      </p:sp>
      <p:sp>
        <p:nvSpPr>
          <p:cNvPr id="10" name="text-24-449">
            <a:extLst xmlns:a="http://schemas.openxmlformats.org/drawingml/2006/main">
              <a:ext uri="{FF2B5EF4-FFF2-40B4-BE49-F238E27FC236}">
                <a16:creationId xmlns:a16="http://schemas.microsoft.com/office/drawing/2014/main" id="{50720566-943D-4A0B-B957-1ADB2DCC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76725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Colombia remains release source; continuous sync ledger starts.</a:t>
            </a:r>
          </a:p>
        </p:txBody>
      </p:sp>
      <p:sp>
        <p:nvSpPr>
          <p:cNvPr id="11" name="box-352-329">
            <a:extLst xmlns:a="http://schemas.openxmlformats.org/drawingml/2006/main">
              <a:ext uri="{FF2B5EF4-FFF2-40B4-BE49-F238E27FC236}">
                <a16:creationId xmlns:a16="http://schemas.microsoft.com/office/drawing/2014/main" id="{86D88A87-C71C-4D42-934A-85000FA7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33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90-274">
            <a:extLst xmlns:a="http://schemas.openxmlformats.org/drawingml/2006/main">
              <a:ext uri="{FF2B5EF4-FFF2-40B4-BE49-F238E27FC236}">
                <a16:creationId xmlns:a16="http://schemas.microsoft.com/office/drawing/2014/main" id="{53D86313-02C4-4535-9FF4-33B93503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9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EXPAND</a:t>
            </a:r>
          </a:p>
        </p:txBody>
      </p:sp>
      <p:sp>
        <p:nvSpPr>
          <p:cNvPr id="13" name="text-268-375">
            <a:extLst xmlns:a="http://schemas.openxmlformats.org/drawingml/2006/main">
              <a:ext uri="{FF2B5EF4-FFF2-40B4-BE49-F238E27FC236}">
                <a16:creationId xmlns:a16="http://schemas.microsoft.com/office/drawing/2014/main" id="{A20DCD67-575B-43A5-987C-5351E449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7187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9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Schema + compatible backend</a:t>
            </a:r>
          </a:p>
        </p:txBody>
      </p:sp>
      <p:sp>
        <p:nvSpPr>
          <p:cNvPr id="14" name="text-264-449">
            <a:extLst xmlns:a="http://schemas.openxmlformats.org/drawingml/2006/main">
              <a:ext uri="{FF2B5EF4-FFF2-40B4-BE49-F238E27FC236}">
                <a16:creationId xmlns:a16="http://schemas.microsoft.com/office/drawing/2014/main" id="{CC8F3B26-610D-4AE7-ABF6-EFCD8020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76725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Additive migrations, scoped writes, backfill, no destructive tighten.</a:t>
            </a:r>
          </a:p>
        </p:txBody>
      </p:sp>
      <p:sp>
        <p:nvSpPr>
          <p:cNvPr id="15" name="box-592-329">
            <a:extLst xmlns:a="http://schemas.openxmlformats.org/drawingml/2006/main">
              <a:ext uri="{FF2B5EF4-FFF2-40B4-BE49-F238E27FC236}">
                <a16:creationId xmlns:a16="http://schemas.microsoft.com/office/drawing/2014/main" id="{F84276A5-987D-4BC0-88B9-49DFA402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33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530-274">
            <a:extLst xmlns:a="http://schemas.openxmlformats.org/drawingml/2006/main">
              <a:ext uri="{FF2B5EF4-FFF2-40B4-BE49-F238E27FC236}">
                <a16:creationId xmlns:a16="http://schemas.microsoft.com/office/drawing/2014/main" id="{DE24D756-2E2E-4C73-A7EE-06C51DF8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17" name="text-508-375">
            <a:extLst xmlns:a="http://schemas.openxmlformats.org/drawingml/2006/main">
              <a:ext uri="{FF2B5EF4-FFF2-40B4-BE49-F238E27FC236}">
                <a16:creationId xmlns:a16="http://schemas.microsoft.com/office/drawing/2014/main" id="{5ECB3B06-87B0-43E3-9617-0435D669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7187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Old/new clients both ways</a:t>
            </a:r>
          </a:p>
        </p:txBody>
      </p:sp>
      <p:sp>
        <p:nvSpPr>
          <p:cNvPr id="18" name="text-504-449">
            <a:extLst xmlns:a="http://schemas.openxmlformats.org/drawingml/2006/main">
              <a:ext uri="{FF2B5EF4-FFF2-40B4-BE49-F238E27FC236}">
                <a16:creationId xmlns:a16="http://schemas.microsoft.com/office/drawing/2014/main" id="{FB777769-2FD8-4246-9DDE-3553F7E5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76725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Stable client ↔ candidate API; candidate client ↔ stable API.</a:t>
            </a:r>
          </a:p>
        </p:txBody>
      </p:sp>
      <p:sp>
        <p:nvSpPr>
          <p:cNvPr id="19" name="box-832-329">
            <a:extLst xmlns:a="http://schemas.openxmlformats.org/drawingml/2006/main">
              <a:ext uri="{FF2B5EF4-FFF2-40B4-BE49-F238E27FC236}">
                <a16:creationId xmlns:a16="http://schemas.microsoft.com/office/drawing/2014/main" id="{595095D6-41B5-4DC7-86E3-E3C9C72C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33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770-274">
            <a:extLst xmlns:a="http://schemas.openxmlformats.org/drawingml/2006/main">
              <a:ext uri="{FF2B5EF4-FFF2-40B4-BE49-F238E27FC236}">
                <a16:creationId xmlns:a16="http://schemas.microsoft.com/office/drawing/2014/main" id="{80C81320-82FF-443B-8105-15CF4374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CANARY</a:t>
            </a:r>
          </a:p>
        </p:txBody>
      </p:sp>
      <p:sp>
        <p:nvSpPr>
          <p:cNvPr id="21" name="text-748-375">
            <a:extLst xmlns:a="http://schemas.openxmlformats.org/drawingml/2006/main">
              <a:ext uri="{FF2B5EF4-FFF2-40B4-BE49-F238E27FC236}">
                <a16:creationId xmlns:a16="http://schemas.microsoft.com/office/drawing/2014/main" id="{EDF49519-FB24-49EE-8D99-3B34650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7187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Bounded traffic + soak</a:t>
            </a:r>
          </a:p>
        </p:txBody>
      </p:sp>
      <p:sp>
        <p:nvSpPr>
          <p:cNvPr id="22" name="text-744-449">
            <a:extLst xmlns:a="http://schemas.openxmlformats.org/drawingml/2006/main">
              <a:ext uri="{FF2B5EF4-FFF2-40B4-BE49-F238E27FC236}">
                <a16:creationId xmlns:a16="http://schemas.microsoft.com/office/drawing/2014/main" id="{7F5B33B1-13CB-4C14-86DE-5DE005F5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76725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Verify build identity, isolation, queues, cache, and domain canaries.</a:t>
            </a:r>
          </a:p>
        </p:txBody>
      </p:sp>
      <p:sp>
        <p:nvSpPr>
          <p:cNvPr id="23" name="box-1072-329">
            <a:extLst xmlns:a="http://schemas.openxmlformats.org/drawingml/2006/main">
              <a:ext uri="{FF2B5EF4-FFF2-40B4-BE49-F238E27FC236}">
                <a16:creationId xmlns:a16="http://schemas.microsoft.com/office/drawing/2014/main" id="{1C784071-0A2F-4466-A53D-491A203B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33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1010-274">
            <a:extLst xmlns:a="http://schemas.openxmlformats.org/drawingml/2006/main">
              <a:ext uri="{FF2B5EF4-FFF2-40B4-BE49-F238E27FC236}">
                <a16:creationId xmlns:a16="http://schemas.microsoft.com/office/drawing/2014/main" id="{7BB2C3F7-EE46-4D52-BC01-C9E8F6B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098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CUTOVER</a:t>
            </a:r>
          </a:p>
        </p:txBody>
      </p:sp>
      <p:sp>
        <p:nvSpPr>
          <p:cNvPr id="25" name="text-988-375">
            <a:extLst xmlns:a="http://schemas.openxmlformats.org/drawingml/2006/main">
              <a:ext uri="{FF2B5EF4-FFF2-40B4-BE49-F238E27FC236}">
                <a16:creationId xmlns:a16="http://schemas.microsoft.com/office/drawing/2014/main" id="{A5B2B49E-CF65-43D8-A916-9D6ADB47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71875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delta + route promotion</a:t>
            </a:r>
          </a:p>
        </p:txBody>
      </p:sp>
      <p:sp>
        <p:nvSpPr>
          <p:cNvPr id="26" name="text-984-449">
            <a:extLst xmlns:a="http://schemas.openxmlformats.org/drawingml/2006/main">
              <a:ext uri="{FF2B5EF4-FFF2-40B4-BE49-F238E27FC236}">
                <a16:creationId xmlns:a16="http://schemas.microsoft.com/office/drawing/2014/main" id="{30FD7ADD-3E84-4CCA-A7B9-F2E3EA21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76725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No DNS or database move; previous app version remains routable.</a:t>
            </a:r>
          </a:p>
        </p:txBody>
      </p:sp>
      <p:sp>
        <p:nvSpPr>
          <p:cNvPr id="27" name="text-150-590">
            <a:extLst xmlns:a="http://schemas.openxmlformats.org/drawingml/2006/main">
              <a:ext uri="{FF2B5EF4-FFF2-40B4-BE49-F238E27FC236}">
                <a16:creationId xmlns:a16="http://schemas.microsoft.com/office/drawing/2014/main" id="{A4F3678F-E9DB-42A1-9B3F-A4D1DD35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Any P0 during the cutover window aborts the cutover, lands in Colombia first, syncs, and restarts the soak clock.</a:t>
            </a:r>
          </a:p>
        </p:txBody>
      </p:sp>
    </p:spTree>
    <p:extLst>
      <p:ext uri="{BB962C8B-B14F-4D97-AF65-F5344CB8AC3E}">
        <p14:creationId xmlns:p14="http://schemas.microsoft.com/office/powerpoint/2010/main" val="2077376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52-34">
            <a:extLst xmlns:a="http://schemas.openxmlformats.org/drawingml/2006/main">
              <a:ext uri="{FF2B5EF4-FFF2-40B4-BE49-F238E27FC236}">
                <a16:creationId xmlns:a16="http://schemas.microsoft.com/office/drawing/2014/main" id="{A1566543-26C5-4A1A-8839-3BEB04A6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RELEASE SAFETY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766C3A1E-D03D-4020-8F5C-D33755C6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Compatibility is tested in both directions before any release can advance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EEB08-D454-4EA8-94D2-4135DF23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556A00A3-6D89-4173-898A-73F1A170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DE09CF99-B42F-428E-B6F4-9EBA7743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text-475-185">
            <a:extLst xmlns:a="http://schemas.openxmlformats.org/drawingml/2006/main">
              <a:ext uri="{FF2B5EF4-FFF2-40B4-BE49-F238E27FC236}">
                <a16:creationId xmlns:a16="http://schemas.microsoft.com/office/drawing/2014/main" id="{13E56477-361F-48B2-A4B5-B2E1070E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Candidate API</a:t>
            </a:r>
          </a:p>
        </p:txBody>
      </p:sp>
      <p:sp>
        <p:nvSpPr>
          <p:cNvPr id="7" name="text-855-185">
            <a:extLst xmlns:a="http://schemas.openxmlformats.org/drawingml/2006/main">
              <a:ext uri="{FF2B5EF4-FFF2-40B4-BE49-F238E27FC236}">
                <a16:creationId xmlns:a16="http://schemas.microsoft.com/office/drawing/2014/main" id="{F87F0C4D-C927-4589-9899-FDF5518D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62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 API</a:t>
            </a:r>
          </a:p>
        </p:txBody>
      </p:sp>
      <p:sp>
        <p:nvSpPr>
          <p:cNvPr id="8" name="text-80-296">
            <a:extLst xmlns:a="http://schemas.openxmlformats.org/drawingml/2006/main">
              <a:ext uri="{FF2B5EF4-FFF2-40B4-BE49-F238E27FC236}">
                <a16:creationId xmlns:a16="http://schemas.microsoft.com/office/drawing/2014/main" id="{5B08FA77-974B-430D-BC74-C645C049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Stable clients</a:t>
            </a:r>
          </a:p>
        </p:txBody>
      </p:sp>
      <p:sp>
        <p:nvSpPr>
          <p:cNvPr id="9" name="text-80-460">
            <a:extLst xmlns:a="http://schemas.openxmlformats.org/drawingml/2006/main">
              <a:ext uri="{FF2B5EF4-FFF2-40B4-BE49-F238E27FC236}">
                <a16:creationId xmlns:a16="http://schemas.microsoft.com/office/drawing/2014/main" id="{F7FE13CE-1C25-45C2-B592-F5BE5A9F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Candidate clients</a:t>
            </a:r>
          </a:p>
        </p:txBody>
      </p:sp>
      <p:sp>
        <p:nvSpPr>
          <p:cNvPr id="10" name="box-380-240">
            <a:extLst xmlns:a="http://schemas.openxmlformats.org/drawingml/2006/main">
              <a:ext uri="{FF2B5EF4-FFF2-40B4-BE49-F238E27FC236}">
                <a16:creationId xmlns:a16="http://schemas.microsoft.com/office/drawing/2014/main" id="{7569F4AA-FBAA-45CD-B5A5-91780F77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-400-260">
            <a:extLst xmlns:a="http://schemas.openxmlformats.org/drawingml/2006/main">
              <a:ext uri="{FF2B5EF4-FFF2-40B4-BE49-F238E27FC236}">
                <a16:creationId xmlns:a16="http://schemas.microsoft.com/office/drawing/2014/main" id="{4E9976D7-39C0-488E-B3C4-E0E2A7C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Required lane</a:t>
            </a:r>
          </a:p>
        </p:txBody>
      </p:sp>
      <p:sp>
        <p:nvSpPr>
          <p:cNvPr id="12" name="text-400-300">
            <a:extLst xmlns:a="http://schemas.openxmlformats.org/drawingml/2006/main">
              <a:ext uri="{FF2B5EF4-FFF2-40B4-BE49-F238E27FC236}">
                <a16:creationId xmlns:a16="http://schemas.microsoft.com/office/drawing/2014/main" id="{300032C5-3059-47C1-B7B5-CC24318B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Old public + admin clients must work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with candidate backend</a:t>
            </a:r>
          </a:p>
        </p:txBody>
      </p:sp>
      <p:sp>
        <p:nvSpPr>
          <p:cNvPr id="13" name="box-760-240">
            <a:extLst xmlns:a="http://schemas.openxmlformats.org/drawingml/2006/main">
              <a:ext uri="{FF2B5EF4-FFF2-40B4-BE49-F238E27FC236}">
                <a16:creationId xmlns:a16="http://schemas.microsoft.com/office/drawing/2014/main" id="{0EB017E4-FB6E-4BAA-A3DF-B65541CC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780-260">
            <a:extLst xmlns:a="http://schemas.openxmlformats.org/drawingml/2006/main">
              <a:ext uri="{FF2B5EF4-FFF2-40B4-BE49-F238E27FC236}">
                <a16:creationId xmlns:a16="http://schemas.microsoft.com/office/drawing/2014/main" id="{7B96B204-589A-4DBD-9C5F-1C2F3821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lane</a:t>
            </a:r>
          </a:p>
        </p:txBody>
      </p:sp>
      <p:sp>
        <p:nvSpPr>
          <p:cNvPr id="15" name="text-780-300">
            <a:extLst xmlns:a="http://schemas.openxmlformats.org/drawingml/2006/main">
              <a:ext uri="{FF2B5EF4-FFF2-40B4-BE49-F238E27FC236}">
                <a16:creationId xmlns:a16="http://schemas.microsoft.com/office/drawing/2014/main" id="{5F3D2D69-E5DC-4CC6-813F-C93574FB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Stored stable artifacts prove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known behavior</a:t>
            </a:r>
          </a:p>
        </p:txBody>
      </p:sp>
      <p:sp>
        <p:nvSpPr>
          <p:cNvPr id="16" name="box-380-404">
            <a:extLst xmlns:a="http://schemas.openxmlformats.org/drawingml/2006/main">
              <a:ext uri="{FF2B5EF4-FFF2-40B4-BE49-F238E27FC236}">
                <a16:creationId xmlns:a16="http://schemas.microsoft.com/office/drawing/2014/main" id="{0D3F9FA8-AA45-4288-9E72-76FEC0A4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481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400-424">
            <a:extLst xmlns:a="http://schemas.openxmlformats.org/drawingml/2006/main">
              <a:ext uri="{FF2B5EF4-FFF2-40B4-BE49-F238E27FC236}">
                <a16:creationId xmlns:a16="http://schemas.microsoft.com/office/drawing/2014/main" id="{4C939F76-F6D3-4A8D-A548-492865E9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38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Head/head lane</a:t>
            </a:r>
          </a:p>
        </p:txBody>
      </p:sp>
      <p:sp>
        <p:nvSpPr>
          <p:cNvPr id="18" name="text-400-464">
            <a:extLst xmlns:a="http://schemas.openxmlformats.org/drawingml/2006/main">
              <a:ext uri="{FF2B5EF4-FFF2-40B4-BE49-F238E27FC236}">
                <a16:creationId xmlns:a16="http://schemas.microsoft.com/office/drawing/2014/main" id="{FB59F1ED-998C-4889-95ED-323ECE3B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196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Candidate artifacts prove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new behavior</a:t>
            </a:r>
          </a:p>
        </p:txBody>
      </p:sp>
      <p:sp>
        <p:nvSpPr>
          <p:cNvPr id="19" name="box-760-404">
            <a:extLst xmlns:a="http://schemas.openxmlformats.org/drawingml/2006/main">
              <a:ext uri="{FF2B5EF4-FFF2-40B4-BE49-F238E27FC236}">
                <a16:creationId xmlns:a16="http://schemas.microsoft.com/office/drawing/2014/main" id="{75D0EB0E-5837-4A97-ACF6-15301508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780-424">
            <a:extLst xmlns:a="http://schemas.openxmlformats.org/drawingml/2006/main">
              <a:ext uri="{FF2B5EF4-FFF2-40B4-BE49-F238E27FC236}">
                <a16:creationId xmlns:a16="http://schemas.microsoft.com/office/drawing/2014/main" id="{DA9FEB5B-A900-402D-97CA-CE205BB2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Required lane</a:t>
            </a:r>
          </a:p>
        </p:txBody>
      </p:sp>
      <p:sp>
        <p:nvSpPr>
          <p:cNvPr id="21" name="text-780-464">
            <a:extLst xmlns:a="http://schemas.openxmlformats.org/drawingml/2006/main">
              <a:ext uri="{FF2B5EF4-FFF2-40B4-BE49-F238E27FC236}">
                <a16:creationId xmlns:a16="http://schemas.microsoft.com/office/drawing/2014/main" id="{9BCC1C31-95D7-48A4-91BC-E69BD878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96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Candidate clients must work</a:t>
            </a:r>
          </a:p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with stable backend</a:t>
            </a:r>
          </a:p>
        </p:txBody>
      </p:sp>
      <p:sp>
        <p:nvSpPr>
          <p:cNvPr id="22" name="box-380-566">
            <a:extLst xmlns:a="http://schemas.openxmlformats.org/drawingml/2006/main">
              <a:ext uri="{FF2B5EF4-FFF2-40B4-BE49-F238E27FC236}">
                <a16:creationId xmlns:a16="http://schemas.microsoft.com/office/drawing/2014/main" id="{57BD37DC-F920-4BD1-85D5-24F2B2B7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91150"/>
            <a:ext cx="67627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404-582">
            <a:extLst xmlns:a="http://schemas.openxmlformats.org/drawingml/2006/main">
              <a:ext uri="{FF2B5EF4-FFF2-40B4-BE49-F238E27FC236}">
                <a16:creationId xmlns:a16="http://schemas.microsoft.com/office/drawing/2014/main" id="{04106F7D-E1CC-4994-AC76-6C33BE04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43550"/>
            <a:ext cx="630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3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Release order: additive schema → compatible backend → admin/public clients → producers</a:t>
            </a:r>
          </a:p>
        </p:txBody>
      </p:sp>
    </p:spTree>
    <p:extLst>
      <p:ext uri="{BB962C8B-B14F-4D97-AF65-F5344CB8AC3E}">
        <p14:creationId xmlns:p14="http://schemas.microsoft.com/office/powerpoint/2010/main" val="20964890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52-34">
            <a:extLst xmlns:a="http://schemas.openxmlformats.org/drawingml/2006/main">
              <a:ext uri="{FF2B5EF4-FFF2-40B4-BE49-F238E27FC236}">
                <a16:creationId xmlns:a16="http://schemas.microsoft.com/office/drawing/2014/main" id="{F10B3CDE-AB19-422C-9E88-DC6F8C74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CONTINGENCY MODEL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DBB44C72-2343-489E-923C-6248E7B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Failures stop the affected transition—not the live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000E6-F074-456F-9D2A-6C272A02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E83A6181-46DE-4D8E-A26E-D0219099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1EF1A845-9FE3-4BA5-84C2-EC094487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box-52-194">
            <a:extLst xmlns:a="http://schemas.openxmlformats.org/drawingml/2006/main">
              <a:ext uri="{FF2B5EF4-FFF2-40B4-BE49-F238E27FC236}">
                <a16:creationId xmlns:a16="http://schemas.microsoft.com/office/drawing/2014/main" id="{DDD5C6E5-EEC1-4F91-86B7-85FB232A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20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9525">
            <a:solidFill>
              <a:srgbClr val="A85A00"/>
            </a:solidFill>
            <a:prstDash val="solid"/>
          </a:ln>
        </p:spPr>
      </p:sp>
      <p:sp>
        <p:nvSpPr>
          <p:cNvPr id="7" name="box-52-194">
            <a:extLst xmlns:a="http://schemas.openxmlformats.org/drawingml/2006/main">
              <a:ext uri="{FF2B5EF4-FFF2-40B4-BE49-F238E27FC236}">
                <a16:creationId xmlns:a16="http://schemas.microsoft.com/office/drawing/2014/main" id="{6CEC2E3C-84CB-4ACB-B34F-DBBC1579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95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84-218">
            <a:extLst xmlns:a="http://schemas.openxmlformats.org/drawingml/2006/main">
              <a:ext uri="{FF2B5EF4-FFF2-40B4-BE49-F238E27FC236}">
                <a16:creationId xmlns:a16="http://schemas.microsoft.com/office/drawing/2014/main" id="{0E515F2E-0C8D-463E-B7E8-2930E7D4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85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85A00"/>
                </a:solidFill>
                <a:latin typeface="Helvetica Neue"/>
                <a:ea typeface="Helvetica Neue"/>
                <a:cs typeface="Helvetica Neue"/>
              </a:rPr>
              <a:t>Migration or lock failure</a:t>
            </a:r>
          </a:p>
        </p:txBody>
      </p:sp>
      <p:sp>
        <p:nvSpPr>
          <p:cNvPr id="9" name="text-84-270">
            <a:extLst xmlns:a="http://schemas.openxmlformats.org/drawingml/2006/main">
              <a:ext uri="{FF2B5EF4-FFF2-40B4-BE49-F238E27FC236}">
                <a16:creationId xmlns:a16="http://schemas.microsoft.com/office/drawing/2014/main" id="{35F16468-9E62-4A3F-B9D0-5515C65D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Fail closed. Keep current app live. Identify blocker read-only; retry in a safer window.</a:t>
            </a:r>
          </a:p>
        </p:txBody>
      </p:sp>
      <p:sp>
        <p:nvSpPr>
          <p:cNvPr id="10" name="box-650-194">
            <a:extLst xmlns:a="http://schemas.openxmlformats.org/drawingml/2006/main">
              <a:ext uri="{FF2B5EF4-FFF2-40B4-BE49-F238E27FC236}">
                <a16:creationId xmlns:a16="http://schemas.microsoft.com/office/drawing/2014/main" id="{4CCBA4C4-3B54-428D-8658-343B127D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520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box-650-194">
            <a:extLst xmlns:a="http://schemas.openxmlformats.org/drawingml/2006/main">
              <a:ext uri="{FF2B5EF4-FFF2-40B4-BE49-F238E27FC236}">
                <a16:creationId xmlns:a16="http://schemas.microsoft.com/office/drawing/2014/main" id="{F59E45D1-C354-40AD-9B7C-E13F5E48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95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82-218">
            <a:extLst xmlns:a="http://schemas.openxmlformats.org/drawingml/2006/main">
              <a:ext uri="{FF2B5EF4-FFF2-40B4-BE49-F238E27FC236}">
                <a16:creationId xmlns:a16="http://schemas.microsoft.com/office/drawing/2014/main" id="{E1DC9ACD-00F1-4029-81F0-76A3DBDB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Cache or provider outage</a:t>
            </a:r>
          </a:p>
        </p:txBody>
      </p:sp>
      <p:sp>
        <p:nvSpPr>
          <p:cNvPr id="13" name="text-682-270">
            <a:extLst xmlns:a="http://schemas.openxmlformats.org/drawingml/2006/main">
              <a:ext uri="{FF2B5EF4-FFF2-40B4-BE49-F238E27FC236}">
                <a16:creationId xmlns:a16="http://schemas.microsoft.com/office/drawing/2014/main" id="{F83CC77D-9359-4BB7-96A5-06CD4B01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Bypass to authoritative origin within budget. Disable optional module or cache; preserve contracts.</a:t>
            </a:r>
          </a:p>
        </p:txBody>
      </p:sp>
      <p:sp>
        <p:nvSpPr>
          <p:cNvPr id="14" name="box-52-406">
            <a:extLst xmlns:a="http://schemas.openxmlformats.org/drawingml/2006/main">
              <a:ext uri="{FF2B5EF4-FFF2-40B4-BE49-F238E27FC236}">
                <a16:creationId xmlns:a16="http://schemas.microsoft.com/office/drawing/2014/main" id="{22351BA3-BE68-4BB7-AAA5-23D43483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520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5" name="box-52-406">
            <a:extLst xmlns:a="http://schemas.openxmlformats.org/drawingml/2006/main">
              <a:ext uri="{FF2B5EF4-FFF2-40B4-BE49-F238E27FC236}">
                <a16:creationId xmlns:a16="http://schemas.microsoft.com/office/drawing/2014/main" id="{9A259F1E-A943-4633-9591-B834F88C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95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84-430">
            <a:extLst xmlns:a="http://schemas.openxmlformats.org/drawingml/2006/main">
              <a:ext uri="{FF2B5EF4-FFF2-40B4-BE49-F238E27FC236}">
                <a16:creationId xmlns:a16="http://schemas.microsoft.com/office/drawing/2014/main" id="{79D51B77-BE62-429D-8A89-A852A635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Isolation or privacy failure</a:t>
            </a:r>
          </a:p>
        </p:txBody>
      </p:sp>
      <p:sp>
        <p:nvSpPr>
          <p:cNvPr id="17" name="text-84-482">
            <a:extLst xmlns:a="http://schemas.openxmlformats.org/drawingml/2006/main">
              <a:ext uri="{FF2B5EF4-FFF2-40B4-BE49-F238E27FC236}">
                <a16:creationId xmlns:a16="http://schemas.microsoft.com/office/drawing/2014/main" id="{C1F7F2ED-A8E5-4D09-B301-88B9AE28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Quarantine hostname/module, stop producers, advance epoch, purge, investigate as security incident.</a:t>
            </a:r>
          </a:p>
        </p:txBody>
      </p:sp>
      <p:sp>
        <p:nvSpPr>
          <p:cNvPr id="18" name="box-650-406">
            <a:extLst xmlns:a="http://schemas.openxmlformats.org/drawingml/2006/main">
              <a:ext uri="{FF2B5EF4-FFF2-40B4-BE49-F238E27FC236}">
                <a16:creationId xmlns:a16="http://schemas.microsoft.com/office/drawing/2014/main" id="{4EEB21C2-0107-44B7-92B3-F552598D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52006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box-650-406">
            <a:extLst xmlns:a="http://schemas.openxmlformats.org/drawingml/2006/main">
              <a:ext uri="{FF2B5EF4-FFF2-40B4-BE49-F238E27FC236}">
                <a16:creationId xmlns:a16="http://schemas.microsoft.com/office/drawing/2014/main" id="{ED1A6357-0E31-47D6-98EC-4D3594A7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95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682-430">
            <a:extLst xmlns:a="http://schemas.openxmlformats.org/drawingml/2006/main">
              <a:ext uri="{FF2B5EF4-FFF2-40B4-BE49-F238E27FC236}">
                <a16:creationId xmlns:a16="http://schemas.microsoft.com/office/drawing/2014/main" id="{975F742C-1018-47ED-8224-ED23AC21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Queue or channel failure</a:t>
            </a:r>
          </a:p>
        </p:txBody>
      </p:sp>
      <p:sp>
        <p:nvSpPr>
          <p:cNvPr id="21" name="text-682-482">
            <a:extLst xmlns:a="http://schemas.openxmlformats.org/drawingml/2006/main">
              <a:ext uri="{FF2B5EF4-FFF2-40B4-BE49-F238E27FC236}">
                <a16:creationId xmlns:a16="http://schemas.microsoft.com/office/drawing/2014/main" id="{8BDCB6BE-DF23-44BB-9055-6DB0F0AB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Stop new producers, preserve checkpoint/backlog, use old compatible consumer or verified manual channel.</a:t>
            </a:r>
          </a:p>
        </p:txBody>
      </p:sp>
    </p:spTree>
    <p:extLst>
      <p:ext uri="{BB962C8B-B14F-4D97-AF65-F5344CB8AC3E}">
        <p14:creationId xmlns:p14="http://schemas.microsoft.com/office/powerpoint/2010/main" val="15923667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52-34">
            <a:extLst xmlns:a="http://schemas.openxmlformats.org/drawingml/2006/main">
              <a:ext uri="{FF2B5EF4-FFF2-40B4-BE49-F238E27FC236}">
                <a16:creationId xmlns:a16="http://schemas.microsoft.com/office/drawing/2014/main" id="{C366A085-F02A-4487-9803-36C74E10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PHASED ROADMAP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76C2E85E-B7F3-42CF-81E9-7D9080C0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roadmap proves foundations before expanding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728F4-7B82-4E2D-B1AF-1A0A87F6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0FA7C622-22AB-4272-A379-049FA719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3BF108B1-9EF7-4495-8814-B14B75D8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text-330-176">
            <a:extLst xmlns:a="http://schemas.openxmlformats.org/drawingml/2006/main">
              <a:ext uri="{FF2B5EF4-FFF2-40B4-BE49-F238E27FC236}">
                <a16:creationId xmlns:a16="http://schemas.microsoft.com/office/drawing/2014/main" id="{DDAA6AAA-1DF0-4718-AC22-985014B8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PHASE A</a:t>
            </a:r>
          </a:p>
        </p:txBody>
      </p:sp>
      <p:sp>
        <p:nvSpPr>
          <p:cNvPr id="7" name="text-334-205">
            <a:extLst xmlns:a="http://schemas.openxmlformats.org/drawingml/2006/main">
              <a:ext uri="{FF2B5EF4-FFF2-40B4-BE49-F238E27FC236}">
                <a16:creationId xmlns:a16="http://schemas.microsoft.com/office/drawing/2014/main" id="{3CCEF9F0-32B8-4A03-98FB-03DAD032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52625"/>
            <a:ext cx="1304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controls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 contracts</a:t>
            </a:r>
          </a:p>
        </p:txBody>
      </p:sp>
      <p:sp>
        <p:nvSpPr>
          <p:cNvPr id="8" name="text-475-176">
            <a:extLst xmlns:a="http://schemas.openxmlformats.org/drawingml/2006/main">
              <a:ext uri="{FF2B5EF4-FFF2-40B4-BE49-F238E27FC236}">
                <a16:creationId xmlns:a16="http://schemas.microsoft.com/office/drawing/2014/main" id="{441327FE-45A4-4EC0-B0FE-97E729B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764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PHASE B</a:t>
            </a:r>
          </a:p>
        </p:txBody>
      </p:sp>
      <p:sp>
        <p:nvSpPr>
          <p:cNvPr id="9" name="text-479-205">
            <a:extLst xmlns:a="http://schemas.openxmlformats.org/drawingml/2006/main">
              <a:ext uri="{FF2B5EF4-FFF2-40B4-BE49-F238E27FC236}">
                <a16:creationId xmlns:a16="http://schemas.microsoft.com/office/drawing/2014/main" id="{ABAE46D4-3F57-4B68-98F0-CA20A183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52625"/>
            <a:ext cx="1304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Tenant scope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 Upstash</a:t>
            </a:r>
          </a:p>
        </p:txBody>
      </p:sp>
      <p:sp>
        <p:nvSpPr>
          <p:cNvPr id="10" name="text-620-176">
            <a:extLst xmlns:a="http://schemas.openxmlformats.org/drawingml/2006/main">
              <a:ext uri="{FF2B5EF4-FFF2-40B4-BE49-F238E27FC236}">
                <a16:creationId xmlns:a16="http://schemas.microsoft.com/office/drawing/2014/main" id="{7317AA7C-86B2-4ED6-A42E-A606C9BC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PHASE C–E</a:t>
            </a:r>
          </a:p>
        </p:txBody>
      </p:sp>
      <p:sp>
        <p:nvSpPr>
          <p:cNvPr id="11" name="text-624-205">
            <a:extLst xmlns:a="http://schemas.openxmlformats.org/drawingml/2006/main">
              <a:ext uri="{FF2B5EF4-FFF2-40B4-BE49-F238E27FC236}">
                <a16:creationId xmlns:a16="http://schemas.microsoft.com/office/drawing/2014/main" id="{49D0FCB1-3657-4821-B66C-0EBCE39B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52625"/>
            <a:ext cx="1304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Modules, providers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 catalogs</a:t>
            </a:r>
          </a:p>
        </p:txBody>
      </p:sp>
      <p:sp>
        <p:nvSpPr>
          <p:cNvPr id="12" name="text-765-176">
            <a:extLst xmlns:a="http://schemas.openxmlformats.org/drawingml/2006/main">
              <a:ext uri="{FF2B5EF4-FFF2-40B4-BE49-F238E27FC236}">
                <a16:creationId xmlns:a16="http://schemas.microsoft.com/office/drawing/2014/main" id="{B4E034B1-B047-413D-81CB-0733C3DB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764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PHASE F</a:t>
            </a:r>
          </a:p>
        </p:txBody>
      </p:sp>
      <p:sp>
        <p:nvSpPr>
          <p:cNvPr id="13" name="text-769-205">
            <a:extLst xmlns:a="http://schemas.openxmlformats.org/drawingml/2006/main">
              <a:ext uri="{FF2B5EF4-FFF2-40B4-BE49-F238E27FC236}">
                <a16:creationId xmlns:a16="http://schemas.microsoft.com/office/drawing/2014/main" id="{4518E246-1F8E-46ED-BCF9-689E5FD9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52625"/>
            <a:ext cx="1304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Rehearse +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cut over Colombia</a:t>
            </a:r>
          </a:p>
        </p:txBody>
      </p:sp>
      <p:sp>
        <p:nvSpPr>
          <p:cNvPr id="14" name="text-910-176">
            <a:extLst xmlns:a="http://schemas.openxmlformats.org/drawingml/2006/main">
              <a:ext uri="{FF2B5EF4-FFF2-40B4-BE49-F238E27FC236}">
                <a16:creationId xmlns:a16="http://schemas.microsoft.com/office/drawing/2014/main" id="{82E4071C-8191-4843-8F9C-253A5652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764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PHASE G</a:t>
            </a:r>
          </a:p>
        </p:txBody>
      </p:sp>
      <p:sp>
        <p:nvSpPr>
          <p:cNvPr id="15" name="text-914-205">
            <a:extLst xmlns:a="http://schemas.openxmlformats.org/drawingml/2006/main">
              <a:ext uri="{FF2B5EF4-FFF2-40B4-BE49-F238E27FC236}">
                <a16:creationId xmlns:a16="http://schemas.microsoft.com/office/drawing/2014/main" id="{26833B3F-C8F7-4431-82BA-D8984C52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52625"/>
            <a:ext cx="1304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Provisioning +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signals</a:t>
            </a:r>
          </a:p>
        </p:txBody>
      </p:sp>
      <p:sp>
        <p:nvSpPr>
          <p:cNvPr id="16" name="text-1055-176">
            <a:extLst xmlns:a="http://schemas.openxmlformats.org/drawingml/2006/main">
              <a:ext uri="{FF2B5EF4-FFF2-40B4-BE49-F238E27FC236}">
                <a16:creationId xmlns:a16="http://schemas.microsoft.com/office/drawing/2014/main" id="{2C335C70-3C74-4E5C-8D59-5BEF9632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6764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PHASE H</a:t>
            </a:r>
          </a:p>
        </p:txBody>
      </p:sp>
      <p:sp>
        <p:nvSpPr>
          <p:cNvPr id="17" name="text-1059-205">
            <a:extLst xmlns:a="http://schemas.openxmlformats.org/drawingml/2006/main">
              <a:ext uri="{FF2B5EF4-FFF2-40B4-BE49-F238E27FC236}">
                <a16:creationId xmlns:a16="http://schemas.microsoft.com/office/drawing/2014/main" id="{DDDF703D-043C-4B10-B20D-AB5B9AA9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952625"/>
            <a:ext cx="1304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Runtime sites +</a:t>
            </a:r>
          </a:p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 + channels</a:t>
            </a:r>
          </a:p>
        </p:txBody>
      </p:sp>
      <p:sp>
        <p:nvSpPr>
          <p:cNvPr id="18" name="text-52-312">
            <a:extLst xmlns:a="http://schemas.openxmlformats.org/drawingml/2006/main">
              <a:ext uri="{FF2B5EF4-FFF2-40B4-BE49-F238E27FC236}">
                <a16:creationId xmlns:a16="http://schemas.microsoft.com/office/drawing/2014/main" id="{8CBECBC6-D244-4A75-9E68-D4A8C494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foundation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7847C-A743-4F6D-AF4A-8E107D3D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box-338-311">
            <a:extLst xmlns:a="http://schemas.openxmlformats.org/drawingml/2006/main">
              <a:ext uri="{FF2B5EF4-FFF2-40B4-BE49-F238E27FC236}">
                <a16:creationId xmlns:a16="http://schemas.microsoft.com/office/drawing/2014/main" id="{EDB9E5A2-5903-41F9-94D6-24582AC5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62275"/>
            <a:ext cx="26098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52-365">
            <a:extLst xmlns:a="http://schemas.openxmlformats.org/drawingml/2006/main">
              <a:ext uri="{FF2B5EF4-FFF2-40B4-BE49-F238E27FC236}">
                <a16:creationId xmlns:a16="http://schemas.microsoft.com/office/drawing/2014/main" id="{4A97B78E-EEA6-4E94-8D54-30B9DE82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Colombia synchronization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752B0-2689-46CA-9EDE-B5403492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9975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box-483-364">
            <a:extLst xmlns:a="http://schemas.openxmlformats.org/drawingml/2006/main">
              <a:ext uri="{FF2B5EF4-FFF2-40B4-BE49-F238E27FC236}">
                <a16:creationId xmlns:a16="http://schemas.microsoft.com/office/drawing/2014/main" id="{0CF5D351-C8ED-4AA0-B6D1-BCAFD3AB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67100"/>
            <a:ext cx="399097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52-418">
            <a:extLst xmlns:a="http://schemas.openxmlformats.org/drawingml/2006/main">
              <a:ext uri="{FF2B5EF4-FFF2-40B4-BE49-F238E27FC236}">
                <a16:creationId xmlns:a16="http://schemas.microsoft.com/office/drawing/2014/main" id="{E737DF84-C6E1-439C-AD2B-2C4712BF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Isolation + domain migration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5C290-A906-4C11-927B-2BBD353E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148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box-483-417">
            <a:extLst xmlns:a="http://schemas.openxmlformats.org/drawingml/2006/main">
              <a:ext uri="{FF2B5EF4-FFF2-40B4-BE49-F238E27FC236}">
                <a16:creationId xmlns:a16="http://schemas.microsoft.com/office/drawing/2014/main" id="{26AE042E-0E4A-4BEB-9FBB-FFDC6C1F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71925"/>
            <a:ext cx="399097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52-471">
            <a:extLst xmlns:a="http://schemas.openxmlformats.org/drawingml/2006/main">
              <a:ext uri="{FF2B5EF4-FFF2-40B4-BE49-F238E27FC236}">
                <a16:creationId xmlns:a16="http://schemas.microsoft.com/office/drawing/2014/main" id="{72623B01-B14C-4162-A8C2-E9D3C4A3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862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7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Production rehearsal + cutover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00ADC0-4C57-4FE1-8CCE-652A90CB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9625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box-773-470">
            <a:extLst xmlns:a="http://schemas.openxmlformats.org/drawingml/2006/main">
              <a:ext uri="{FF2B5EF4-FFF2-40B4-BE49-F238E27FC236}">
                <a16:creationId xmlns:a16="http://schemas.microsoft.com/office/drawing/2014/main" id="{32313E2A-C029-4DB7-96B0-2DA791A0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76750"/>
            <a:ext cx="122872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7C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52-524">
            <a:extLst xmlns:a="http://schemas.openxmlformats.org/drawingml/2006/main">
              <a:ext uri="{FF2B5EF4-FFF2-40B4-BE49-F238E27FC236}">
                <a16:creationId xmlns:a16="http://schemas.microsoft.com/office/drawing/2014/main" id="{E340596B-0129-4B4D-9F11-E1BD6BD3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Second-incident operability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2F84ED-2595-492D-B794-E66301E3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244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box-918-523">
            <a:extLst xmlns:a="http://schemas.openxmlformats.org/drawingml/2006/main">
              <a:ext uri="{FF2B5EF4-FFF2-40B4-BE49-F238E27FC236}">
                <a16:creationId xmlns:a16="http://schemas.microsoft.com/office/drawing/2014/main" id="{9C8C0886-F979-4A3A-AB2C-7A015AF2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81575"/>
            <a:ext cx="26098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52-577">
            <a:extLst xmlns:a="http://schemas.openxmlformats.org/drawingml/2006/main">
              <a:ext uri="{FF2B5EF4-FFF2-40B4-BE49-F238E27FC236}">
                <a16:creationId xmlns:a16="http://schemas.microsoft.com/office/drawing/2014/main" id="{015EEEE0-DB62-4E0D-A473-CFA641CF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959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Compatibility retirement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01B4F1-C0B9-4D88-8C65-E802C40E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29275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box-773-576">
            <a:extLst xmlns:a="http://schemas.openxmlformats.org/drawingml/2006/main">
              <a:ext uri="{FF2B5EF4-FFF2-40B4-BE49-F238E27FC236}">
                <a16:creationId xmlns:a16="http://schemas.microsoft.com/office/drawing/2014/main" id="{6ECFBFD7-A516-402B-BB3E-DF422C95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486400"/>
            <a:ext cx="3990975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C6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210-628">
            <a:extLst xmlns:a="http://schemas.openxmlformats.org/drawingml/2006/main">
              <a:ext uri="{FF2B5EF4-FFF2-40B4-BE49-F238E27FC236}">
                <a16:creationId xmlns:a16="http://schemas.microsoft.com/office/drawing/2014/main" id="{2B9907A1-E829-4308-8375-2002EBC1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81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9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Entry gate for G/H: Colombia cutover and compatibility closure are complete, and a concrete second-incident driver is named.</a:t>
            </a:r>
          </a:p>
        </p:txBody>
      </p:sp>
    </p:spTree>
    <p:extLst>
      <p:ext uri="{BB962C8B-B14F-4D97-AF65-F5344CB8AC3E}">
        <p14:creationId xmlns:p14="http://schemas.microsoft.com/office/powerpoint/2010/main" val="18155434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52-34">
            <a:extLst xmlns:a="http://schemas.openxmlformats.org/drawingml/2006/main">
              <a:ext uri="{FF2B5EF4-FFF2-40B4-BE49-F238E27FC236}">
                <a16:creationId xmlns:a16="http://schemas.microsoft.com/office/drawing/2014/main" id="{8AC19828-4A00-4C64-8954-D4DFA2AB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RECOMMENDED NEXT STEP</a:t>
            </a:r>
          </a:p>
        </p:txBody>
      </p:sp>
      <p:sp>
        <p:nvSpPr>
          <p:cNvPr id="2" name="text-52-70">
            <a:extLst xmlns:a="http://schemas.openxmlformats.org/drawingml/2006/main">
              <a:ext uri="{FF2B5EF4-FFF2-40B4-BE49-F238E27FC236}">
                <a16:creationId xmlns:a16="http://schemas.microsoft.com/office/drawing/2014/main" id="{D8024480-4E70-4CCB-A73F-76110760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immediate decision is to fund and govern the safe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D673C-EB77-4297-BA50-5D51C667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52-671">
            <a:extLst xmlns:a="http://schemas.openxmlformats.org/drawingml/2006/main">
              <a:ext uri="{FF2B5EF4-FFF2-40B4-BE49-F238E27FC236}">
                <a16:creationId xmlns:a16="http://schemas.microsoft.com/office/drawing/2014/main" id="{ECD1F808-3B11-40ED-AE93-6867F355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MALLANET · MULTI-INCIDENT PLATFORM</a:t>
            </a:r>
          </a:p>
        </p:txBody>
      </p:sp>
      <p:sp>
        <p:nvSpPr>
          <p:cNvPr id="5" name="text-1174-668">
            <a:extLst xmlns:a="http://schemas.openxmlformats.org/drawingml/2006/main">
              <a:ext uri="{FF2B5EF4-FFF2-40B4-BE49-F238E27FC236}">
                <a16:creationId xmlns:a16="http://schemas.microsoft.com/office/drawing/2014/main" id="{7BEA25FB-463F-41E2-B3DF-24D5551A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text-52-184">
            <a:extLst xmlns:a="http://schemas.openxmlformats.org/drawingml/2006/main">
              <a:ext uri="{FF2B5EF4-FFF2-40B4-BE49-F238E27FC236}">
                <a16:creationId xmlns:a16="http://schemas.microsoft.com/office/drawing/2014/main" id="{01142791-AD39-4CE0-B34D-2A0D828F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 the architecture principles and authorize Phase A planning—not the full migration in one leap.</a:t>
            </a:r>
          </a:p>
        </p:txBody>
      </p:sp>
      <p:sp>
        <p:nvSpPr>
          <p:cNvPr id="7" name="text-52-290">
            <a:extLst xmlns:a="http://schemas.openxmlformats.org/drawingml/2006/main">
              <a:ext uri="{FF2B5EF4-FFF2-40B4-BE49-F238E27FC236}">
                <a16:creationId xmlns:a16="http://schemas.microsoft.com/office/drawing/2014/main" id="{E9C5BB66-C4D8-43EB-99DA-71EB940E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text-122-290">
            <a:extLst xmlns:a="http://schemas.openxmlformats.org/drawingml/2006/main">
              <a:ext uri="{FF2B5EF4-FFF2-40B4-BE49-F238E27FC236}">
                <a16:creationId xmlns:a16="http://schemas.microsoft.com/office/drawing/2014/main" id="{9B71C20B-29D4-43A8-BE74-FC08DEB2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Name accountable owners</a:t>
            </a:r>
          </a:p>
        </p:txBody>
      </p:sp>
      <p:sp>
        <p:nvSpPr>
          <p:cNvPr id="9" name="text-506-291">
            <a:extLst xmlns:a="http://schemas.openxmlformats.org/drawingml/2006/main">
              <a:ext uri="{FF2B5EF4-FFF2-40B4-BE49-F238E27FC236}">
                <a16:creationId xmlns:a16="http://schemas.microsoft.com/office/drawing/2014/main" id="{467D6167-A806-4102-823A-8E9BAC67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71775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Platform architecture · Colombia sync · privacy/security · release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7E656-6BBB-4A96-B1F5-FFC214D2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05175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-52-368">
            <a:extLst xmlns:a="http://schemas.openxmlformats.org/drawingml/2006/main">
              <a:ext uri="{FF2B5EF4-FFF2-40B4-BE49-F238E27FC236}">
                <a16:creationId xmlns:a16="http://schemas.microsoft.com/office/drawing/2014/main" id="{D8F13B22-5793-4F9F-B43E-8E6277B4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text-122-368">
            <a:extLst xmlns:a="http://schemas.openxmlformats.org/drawingml/2006/main">
              <a:ext uri="{FF2B5EF4-FFF2-40B4-BE49-F238E27FC236}">
                <a16:creationId xmlns:a16="http://schemas.microsoft.com/office/drawing/2014/main" id="{A065818C-D974-4718-B18E-F658AF47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the execution baseline</a:t>
            </a:r>
          </a:p>
        </p:txBody>
      </p:sp>
      <p:sp>
        <p:nvSpPr>
          <p:cNvPr id="13" name="text-506-369">
            <a:extLst xmlns:a="http://schemas.openxmlformats.org/drawingml/2006/main">
              <a:ext uri="{FF2B5EF4-FFF2-40B4-BE49-F238E27FC236}">
                <a16:creationId xmlns:a16="http://schemas.microsoft.com/office/drawing/2014/main" id="{5E1D3D55-8538-44B2-B793-CB6D6261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14725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Fresh immutable origin/main SHA; inventory contracts, caches, queues, schema, and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AEC20-9AD1-4502-9DFC-8B48938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52-446">
            <a:extLst xmlns:a="http://schemas.openxmlformats.org/drawingml/2006/main">
              <a:ext uri="{FF2B5EF4-FFF2-40B4-BE49-F238E27FC236}">
                <a16:creationId xmlns:a16="http://schemas.microsoft.com/office/drawing/2014/main" id="{8FD17C26-1A66-49EC-8CBA-4FB20FFF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text-122-446">
            <a:extLst xmlns:a="http://schemas.openxmlformats.org/drawingml/2006/main">
              <a:ext uri="{FF2B5EF4-FFF2-40B4-BE49-F238E27FC236}">
                <a16:creationId xmlns:a16="http://schemas.microsoft.com/office/drawing/2014/main" id="{5D5EFE79-5ED0-43BD-86EF-8B685E5C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the safety prerequisites</a:t>
            </a:r>
          </a:p>
        </p:txBody>
      </p:sp>
      <p:sp>
        <p:nvSpPr>
          <p:cNvPr id="17" name="text-506-447">
            <a:extLst xmlns:a="http://schemas.openxmlformats.org/drawingml/2006/main">
              <a:ext uri="{FF2B5EF4-FFF2-40B4-BE49-F238E27FC236}">
                <a16:creationId xmlns:a16="http://schemas.microsoft.com/office/drawing/2014/main" id="{FD3C58A7-2819-4E1B-9E5C-7B8E90BF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57675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Immutable promotions, build identity, schema gates, mixed-version lanes, sync ledger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3AB45-5FFC-4E47-96B4-263E85AC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91075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-52-524">
            <a:extLst xmlns:a="http://schemas.openxmlformats.org/drawingml/2006/main">
              <a:ext uri="{FF2B5EF4-FFF2-40B4-BE49-F238E27FC236}">
                <a16:creationId xmlns:a16="http://schemas.microsoft.com/office/drawing/2014/main" id="{2BE29FF3-DB23-4BC0-A705-CB732E8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text-122-524">
            <a:extLst xmlns:a="http://schemas.openxmlformats.org/drawingml/2006/main">
              <a:ext uri="{FF2B5EF4-FFF2-40B4-BE49-F238E27FC236}">
                <a16:creationId xmlns:a16="http://schemas.microsoft.com/office/drawing/2014/main" id="{D2D4FD8B-920A-4081-9523-E7F0EF5A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91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Return with evidence</a:t>
            </a:r>
          </a:p>
        </p:txBody>
      </p:sp>
      <p:sp>
        <p:nvSpPr>
          <p:cNvPr id="21" name="text-506-525">
            <a:extLst xmlns:a="http://schemas.openxmlformats.org/drawingml/2006/main">
              <a:ext uri="{FF2B5EF4-FFF2-40B4-BE49-F238E27FC236}">
                <a16:creationId xmlns:a16="http://schemas.microsoft.com/office/drawing/2014/main" id="{AC9297B3-34D2-47FD-ADFE-307019F0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00625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Validated effort/risk estimate, rehearsal results, and a go/no-go package for migration</a:t>
            </a:r>
          </a:p>
        </p:txBody>
      </p:sp>
      <p:sp>
        <p:nvSpPr>
          <p:cNvPr id="22" name="box-52-626">
            <a:extLst xmlns:a="http://schemas.openxmlformats.org/drawingml/2006/main">
              <a:ext uri="{FF2B5EF4-FFF2-40B4-BE49-F238E27FC236}">
                <a16:creationId xmlns:a16="http://schemas.microsoft.com/office/drawing/2014/main" id="{D2D9EF78-40FF-418E-A813-3DA7721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1120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72-633">
            <a:extLst xmlns:a="http://schemas.openxmlformats.org/drawingml/2006/main">
              <a:ext uri="{FF2B5EF4-FFF2-40B4-BE49-F238E27FC236}">
                <a16:creationId xmlns:a16="http://schemas.microsoft.com/office/drawing/2014/main" id="{B2B2B065-72B3-42E4-8C44-562442C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Success means faster response launch with no shortcut around tenant isolation, human approval, privacy, or rollback.</a:t>
            </a:r>
          </a:p>
        </p:txBody>
      </p:sp>
    </p:spTree>
    <p:extLst>
      <p:ext uri="{BB962C8B-B14F-4D97-AF65-F5344CB8AC3E}">
        <p14:creationId xmlns:p14="http://schemas.microsoft.com/office/powerpoint/2010/main" val="177441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2026-08-21T01:41:24.5240000Z</dcterms:created>
  <dcterms:modified xsi:type="dcterms:W3CDTF">2026-08-21T01:41:24.5240000Z</dcterms:modified>
</coreProperties>
</file>